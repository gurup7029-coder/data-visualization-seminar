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5912" cy="5394960"/>
          </a:xfrm>
          <a:prstGeom prst="roundRect">
            <a:avLst/>
          </a:prstGeom>
          <a:solidFill>
            <a:srgbClr val="0E1526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731520"/>
            <a:ext cx="9445752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280160"/>
            <a:ext cx="2926080" cy="32004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34416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Segoe UI"/>
              </a:rPr>
              <a:t>⚡ DATA SCIENCE SEMINAR •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78308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Data Visualization in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06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B6D4"/>
                </a:solidFill>
                <a:latin typeface="Segoe UI"/>
              </a:rPr>
              <a:t>3D Matplotlib Plotting  •  Geospatial Basemap GIS  •  Statistical Seaborn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108960"/>
            <a:ext cx="9445752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71600" y="3383280"/>
            <a:ext cx="548640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👤  PRESENTER CREDENTIALS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9319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Student Name: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9319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GURUPRASATH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79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Register Number: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27939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7376242AD131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6268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Department: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62686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Artificial Intelligence &amp; Data Science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97433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Institution: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974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Bannari Amman Institute of Technology (BIT)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3383280"/>
            <a:ext cx="3657600" cy="21945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5661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Segoe UI"/>
              </a:rPr>
              <a:t>🎯  SEMINAR HIGHLIGHTS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9319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36 Comprehensive Multi-Dimensional Slides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2245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Interactive 3D WebGL Live Demonstrations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51713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Real-World Satellite &amp; GIS Mapping (Basemap)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8097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Advanced Statistical Distributions (Seaborn)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51023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✓ End-to-End Google Colab Executable Code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AGENDA &amp; CURRICULUM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Seminar 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Systematic journey across modern Python visualization paradigms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56616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35661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1645920"/>
            <a:ext cx="1188720" cy="256032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6824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MODULE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Segoe UI"/>
              </a:rPr>
              <a:t>Three-Dimensional Plotting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331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B5CF6"/>
                </a:solidFill>
                <a:latin typeface="Segoe UI"/>
              </a:rPr>
              <a:t>Matplotlib mplot3d Toolkit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651760"/>
            <a:ext cx="3200400" cy="9144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7889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3D Axes Registration &amp; Projections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31927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Parametric Curves &amp; Scatter Spirals (Helix)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4962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Sinusoidal Surface &amp; Contour Projections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79975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Wireframe Meshgrids &amp; Lighting Shading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10327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Dynamic View Angles (elev &amp; azim)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7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3D Bar Frequency &amp; Delaunay Triangulation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463040"/>
            <a:ext cx="356616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1463040"/>
            <a:ext cx="356616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80560" y="1645920"/>
            <a:ext cx="1188720" cy="256032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60" y="16824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MODULE 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Segoe UI"/>
              </a:rPr>
              <a:t>Geographic Data with Basemap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2331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6B6D4"/>
                </a:solidFill>
                <a:latin typeface="Segoe UI"/>
              </a:rPr>
              <a:t>Geospatial Cartography &amp; GIS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651760"/>
            <a:ext cx="3200400" cy="9144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80560" y="27889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Cartographic Basemap Toolkit Setup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31927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Projection Systems: Cylindrical to Orthographic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384962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Coastlines, Rivers &amp; Shaded Relief 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379975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Global Population &amp; Urban Density Mapping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910327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Great Circle Trans-Oceanic Flight Trajectories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44067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Modern Transition: Cartopy &amp; GeoPandas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2440" y="1463040"/>
            <a:ext cx="356616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2440" y="1463040"/>
            <a:ext cx="3566160" cy="5486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75320" y="1645920"/>
            <a:ext cx="1188720" cy="256032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168249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MODULE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Segoe UI"/>
              </a:rPr>
              <a:t>Statistical Seaborn Visuals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331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43F5E"/>
                </a:solidFill>
                <a:latin typeface="Segoe UI"/>
              </a:rPr>
              <a:t>High-Level Grammar of Graphics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5320" y="2651760"/>
            <a:ext cx="3200400" cy="9144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20" y="2788920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Seaborn Design Philosophy &amp; Declarative API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3319271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Kernel Density Estimation (KDE) &amp; Histograms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3849624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Multi-Variable Pairplots &amp; Feature Matrices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379975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Categorical Box, Violin &amp; Strip Plots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4910327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Correlation Matrices &amp; Clustered Heatmaps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440679"/>
            <a:ext cx="3200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94A3B8"/>
                </a:solidFill>
                <a:latin typeface="Segoe UI"/>
              </a:rPr>
              <a:t>• Linear Regression &amp; Residual Modeling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Segoe UI"/>
              </a:rPr>
              <a:t>⚙️ ENVIRONMENT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Datasets &amp; Computing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Curated benchmark datasets used throughout the practical demonstrations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03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45720" cy="2240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🌸 Iris Flower Morphometrics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90195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5CF6"/>
                </a:solidFill>
                <a:latin typeface="Segoe UI"/>
              </a:rPr>
              <a:t>Source: Fisher (1936)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9456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150 samples across 3 species (Setosa, Versicolor, Virginica) with 4 biometric continuous features.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92608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9923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3D multi-class clustering and Seaborn pairplot feature separation.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63040"/>
            <a:ext cx="45720" cy="2240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6002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✈️ US Commercial Flights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90195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6B6D4"/>
                </a:solidFill>
                <a:latin typeface="Segoe UI"/>
              </a:rPr>
              <a:t>Source: BTS Open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9456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Decade-long records of airline passenger counts, routes, seasonality, and monthly delays.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92608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9923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3D trajectory surface interpolation and Seaborn categorical heatmap grids.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45720" cy="224028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690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🪐 Extrasolar Planetary Systems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7083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43F5E"/>
                </a:solidFill>
                <a:latin typeface="Segoe UI"/>
              </a:rPr>
              <a:t>Source: NASA Exoplanet Archive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1,000+ confirmed exoplanets with orbital periods, masses, and astronomical detection methods.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39496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6811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logarithmic scatter regressions and joint hexbin distribution mapping.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931920"/>
            <a:ext cx="45720" cy="2240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06908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8FAFC"/>
                </a:solidFill>
                <a:latin typeface="Segoe UI"/>
              </a:rPr>
              <a:t>🌍 Global Metropolises &amp; GIS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370832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Segoe UI"/>
              </a:rPr>
              <a:t>Source: Natural Earth / USGS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66344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Segoe UI"/>
              </a:rPr>
              <a:t>Geographical latitude/longitude coordinates, elevation, and population counts for 10,000+ cities.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5394960"/>
            <a:ext cx="5074920" cy="59436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468112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F8FAFC"/>
                </a:solidFill>
                <a:latin typeface="Segoe UI"/>
              </a:rPr>
              <a:t>🎯 Seminar Application: Used for Basemap cartographic scatter bubbles and geodesic great-circle flight arcs.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Segoe UI"/>
              </a:rPr>
              <a:t>💻 PYTHON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Software Environment &amp; Dependency 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Modern scientific Python dependencies and environment initialization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852160" cy="484632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85216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B82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773936"/>
            <a:ext cx="552297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Core Scientific Python Stack Initialization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numpy as np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pandas as pd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 import mplot3d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mpl_toolkits.basemap import Basemap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Configure High-DPI Display Settings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plt.rcParams['figure.dpi'] = 300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plt.rcParams['font.family'] = 'sans-serif'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sns.set_theme(style='darkgrid', palette='deep')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Load Standard Seminar Benchmark Datasets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   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flights  = sns.load_dataset('flights')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planets  = sns.load_dataset('planets')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print("Environment successfully initialized with GPU/WebGL accelerators.")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146304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0" y="1463040"/>
            <a:ext cx="54864" cy="8412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157276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Python 3.12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84708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C-Optimized interpreter with JIT compilation &amp; vector execution.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242316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2423160"/>
            <a:ext cx="54864" cy="8412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53288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NumPy &amp; Pandas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80720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Memory-efficient N-dimensional arrays &amp; structured DataFrame queries.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0" y="338328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383280"/>
            <a:ext cx="54864" cy="8412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49300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Matplotlib 3.8 &amp; mplot3d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76732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Foundational plotting engine with 3D projection transformations.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434340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4343400"/>
            <a:ext cx="54864" cy="84124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45312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Seaborn 0.13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472744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Statistical visualization with automated aggregation &amp; error bands.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0" y="5303520"/>
            <a:ext cx="5074920" cy="8412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0" y="5303520"/>
            <a:ext cx="54864" cy="8412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5413248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8FAFC"/>
                </a:solidFill>
                <a:latin typeface="Segoe UI"/>
              </a:rPr>
              <a:t>Basemap &amp; Cartopy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5687568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Geodesic cartographic transforms with PROJ4 &amp; GEOS topology.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645920"/>
            <a:ext cx="2011680" cy="320040"/>
          </a:xfrm>
          <a:prstGeom prst="roundRect">
            <a:avLst/>
          </a:prstGeom>
          <a:solidFill>
            <a:srgbClr val="231742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70078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B5CF6"/>
                </a:solidFill>
                <a:latin typeface="Segoe UI"/>
              </a:rPr>
              <a:t>MODULE 01 • SECTION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Three-Dimensional Plotting
in Matplotlib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657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Mastering the mplot3d toolkit: from basic 3D point clouds and spirals to complex topographical contour surfaces, wireframes, camera angle manipulation, and Delaunay triangulations.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4663440"/>
            <a:ext cx="8686800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onsolas"/>
              </a:rPr>
              <a:t>Key Functions: ax.plot3D • ax.scatter3D • ax.contour3D • ax.plot_wireframe • ax.plot_surface • ax.view_init • ax.plot_trisurf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3D Axes Creation &amp; Projection Registration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Activating spatial 3D coordinate space using Matplotlib's mplot3d toolkit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06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3D Coordinate Projection Registration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The mplot3d toolkit ships with Matplotlib and registers the '3d' projection string.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Passing projection='3d' instantiates an Axes3D object instead of standard 2D cartesian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Enables a three-dimensional bounding cube with X, Y, and Z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Supports interactive mouse panning, rotation, and elevation zoom by default.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 import mplot3d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Method 1: Subplot with 3D projection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plt.figure(figsize=(8,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fig.add_subplot(111,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Method 2: Direct axes instantiation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ax.set_xlabel('X Spatial Axis')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ax.set_ylabel('Y Spatial Axis')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ax.set_zlabel('Z Elevation Axis')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ax.set_title('Initialized 3D Spatial Canvas')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3D Bounding Cube Initialization</a:t>
            </a:r>
          </a:p>
        </p:txBody>
      </p:sp>
      <p:pic>
        <p:nvPicPr>
          <p:cNvPr id="19" name="Picture 18" descr="3d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Scientific Instrument Design &amp; Simulation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Initializing 3D volumetric bounding test chambers for wind tunnel aerodynamics and magnetic resonance imaging (MRI) coordinate calibration.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Provides the required 3D geometric frame of reference before streaming physical sensor coordinates.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Parametric 3D Helix — Lines &amp; Scatter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Visualizing continuous spiral curves and multi-dimensional coordinate triples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07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Parametric Lines (plot3D) &amp; Scatter (scatter3D)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The most fundamental 3D visual created from sets of (x, y, z) coordinate triples.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ax.plot3D(): Connects sequentially sampled points into a continuous spatial curve.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ax.scatter3D(): Projects discrete particles with independent size, opacity, and color mapping.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Depth cueing: Matplotlib adjusts marker transparency based on z-order distance.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numpy as np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Generate 3D Parametric Spiral Data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zline = np.linspace(0, 15, 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xline = np.sin(zline)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yline = np.cos(zline)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Scattered noisy points along the trajectory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zdata = 15 * np.random.random(100)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xdata = np.sin(zdata) + 0.1 * np.random.randn(100)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ydata = np.cos(zdata) + 0.1 * np.random.randn(100)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ax.plot3D(xline, yline, zline, color='#7c3aed', lw=2)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ax.scatter3D(xdata, ydata, zdata, c=zdata, cmap='viridis')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Parametric Spiral Curve Output</a:t>
            </a:r>
          </a:p>
        </p:txBody>
      </p:sp>
      <p:pic>
        <p:nvPicPr>
          <p:cNvPr id="19" name="Picture 18" descr="3d_hel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Biophysics &amp; High-Energy Particle Physics (CERN)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Tracking charged subatomic particle trajectories inside magnetic cloud chambers and modeling helical DNA/protein macromolecular foldings.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2D projections fail to reveal spiral pitch and chirality; 3D rotation reveals spatial orbital drift.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Three-Dimensional Contour Plots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Projecting elevation isolines and topographic gradients across 2D regular grids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08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Topographic Relief Contours (ax.contour3D)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Requires input data as regular 2D grids generated by numpy.meshgrid().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ax.contour3D(X, Y, Z, levels, cmap): Connects points of identical elevation.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levels=50: High density of isolines produces a continuous relief illusion.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Ideal for potential energy fields, gravitational wells, and acoustic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def f(x, y):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    return np.sin(np.sqrt(x**2 + y**2))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 = np.linspace(-6, 6, 30)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 = np.linspace(-6, 6, 30)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X, Y = np.meshgrid(x, y)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f(X, Y)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plt.figure(figsize=(8,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ax.contour3D(X, Y, Z, 50, cmap='binary')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ax.set_xlabel('X'); ax.set_ylabel('Y'); ax.set_zlabel('Z')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3D Sinusoidal Contour Field</a:t>
            </a:r>
          </a:p>
        </p:txBody>
      </p:sp>
      <p:pic>
        <p:nvPicPr>
          <p:cNvPr id="19" name="Picture 18" descr="3d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Meteorology &amp; Seismic Geophysics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Mapping atmospheric isobaric pressure ridges for hurricane intensity forecasting and acoustic seismic reflection boundaries.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Enables engineers to instantly pinpoint elevation gradients and steep potential drop-offs.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Wireframe and Surface Plots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Generating mesh grids and continuous colored polygons with colormaps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09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plot_wireframe() vs plot_surface()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ax.plot_wireframe(): Draws grid line connections without filling polygonal faces.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ax.plot_surface(): Fills polygonal faces with smooth colormapped gradients.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rstride &amp; cstride: Control row and column step sampling density.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edgecolor='none' eliminates black boundary grid artifacts on dense surfaces.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plt.figure(figsize=(10, 5))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Wireframe Subplot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ax1 = fig.add_subplot(121,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ax1.plot_wireframe(X, Y, Z, color='black', rstride=2, cstride=2)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ax1.set_title('Wireframe Mesh')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Filled Surface Subplot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ax2 = fig.add_subplot(122,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ax2.plot_surface(X, Y, Z, rstride=1, cstride=1,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cmap='viridis', edgecolor='none')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ax2.set_title('Continuous Colored Surface')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Wireframe vs Surface Comparison</a:t>
            </a:r>
          </a:p>
        </p:txBody>
      </p:sp>
      <p:pic>
        <p:nvPicPr>
          <p:cNvPr id="19" name="Picture 18" descr="3d_wireframe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45945"/>
            <a:ext cx="5349240" cy="240715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Aerospace CFD &amp; Structural Mechanics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Modeling aerodynamic lift &amp; drag pressure distributions over airplane wings and structural mechanical stress loads across bridge surfaces.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Wireframes allow seeing through the geometry; surface plots highlight critical stress peaks.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Camera Angle Control — ax.view_init()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Manipulating elevation and azimuthal rotation angles for optimal perspective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10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Camera Perspective Manipulation (view_init)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Default Matplotlib 3D viewing angle is elev=30°, azim=-60°.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elev (Elevation): Vertical pitch angle in degrees (0° = side view, 90° = bird's eye view).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azim (Azimuth): Horizontal rotation angle in degrees around the vertical z-axis.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Essential for eliminating occlusions where tall peaks hide valley datapoints.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ax.plot_surface(X, Y, Z, rstride=1, cstride=1,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cmap='viridis', edgecolor='none')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Elevation: angle above XY plane (degrees)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Azimuth: rotation around Z axis (degrees)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ax.view_init(elev=60, azim=35)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ax.set_title('Custom View: elev=60°, azim=35°')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Camera Perspective Comparison</a:t>
            </a:r>
          </a:p>
        </p:txBody>
      </p:sp>
      <p:pic>
        <p:nvPicPr>
          <p:cNvPr id="19" name="Picture 18" descr="3d_view_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Architectural Solar Studies &amp; Defense Radar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Calibrating satellite ground station line-of-sight angles and evaluating solar panel incidence angles across urban rooftops throughout the day.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Automating view_init() loops produces animated rotation videos for executive client presentations.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Three-Dimensional Bar Charts — ax.bar3d()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Rendering volumetric columns for multi-category frequency comparisons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11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Volumetric Column Plots (ax.bar3d)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Requires 6 dimensional vectors: anchor (x, y, z) and spans (dx, dy, dz).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Enables comparing discrete metrics across two simultaneous categorical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alpha parameter ensures behind-standing bars remain partially visible.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Colormaps can be dynamically assigned based on height (dz)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plt.figure(figsize=(8,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fig.add_subplot(111, 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Anchor positions (x, y, z base)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 = [1, 2, 3, 1, 2, 3]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 = [1, 1, 1, 2, 2, 2]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[0, 0, 0, 0, 0, 0]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Bar dimensions (width, depth, height)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dx = dy = [0.5] * 6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dz = [20, 35, 15, 10, 25, 30]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ax.bar3d(x, y, z, dx, dy, dz, color='#3b82f6', alpha=0.8)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ax.set_xlabel('Department'); ax.set_ylabel('Quarter')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ax.set_zlabel('Revenue ($K)')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Volumetric Bar3D Output</a:t>
            </a:r>
          </a:p>
        </p:txBody>
      </p:sp>
      <p:pic>
        <p:nvPicPr>
          <p:cNvPr id="19" name="Picture 18" descr="3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Financial Risk Management &amp; Corporate Portfolios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Visualizing credit risk exposure across both industry sectors (X) and maturity years (Y) simultaneously.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Replaces complex multi-page tables with a single intuitive 3D landscape of capital risk.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Surface Triangulation — ax.plot_trisurf()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Delaunay triangular mesh generation from unstructured spatial point clouds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Unstructured Meshing via Delaunay Triangulation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Solves the limitation where data is not sampled on a uniform rectangular grid.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Applies the Delaunay triangulation algorithm to automatically connect nearest neighbors.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Maximizes minimum interior angles, preventing distorted sliver triangles.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Works directly with raw uneven point sets without requiring interpolation pre-processing.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theta = 2 * np.pi * np.random.random(1000)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r = 6 * np.random.random(1000)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 = np.ravel(r * np.sin(theta))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y = np.ravel(r * np.cos(theta))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np.sin(np.sqrt(x**2 + y**2))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ax.plot_trisurf(x, y, z, cmap='viridis',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edgecolor='none', linewidth=0.2)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ax.set_title('Delaunay Triangulated Surface')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Triangulated Mesh Surface</a:t>
            </a:r>
          </a:p>
        </p:txBody>
      </p:sp>
      <p:pic>
        <p:nvPicPr>
          <p:cNvPr id="19" name="Picture 18" descr="3d_triang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Airborne Drone LiDAR &amp; Autonomous Vehicle Perception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Converting unstructured point clouds from LiDAR scanners into real-time 3D terrain elevation models.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Crucial for mining volume estimation, autonomous off-road navigation, and civil land surveying.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3D Multi-Class Feature Clustering — Iris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Separating complex multi-dimensional botanical morphometrics in 3D space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13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High-Dimensional Feature Projections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Visualizing 3 continuous features simultaneously to evaluate class separability.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Identifies linear and non-linear classification decision boundaries.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Demonstrates that Setosa is linearly separable, while Versicolor and Virginica overlap.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Directly validates feature importance before training classification algorithms.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colors = {'setosa': '#2563eb', 'versicolor': '#059669', 'virginica': '#dc2626'}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for species, group in iris.groupby('species'):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ax.scatter3D(group['sepal_length'],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group['sepal_width'],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group['petal_length'],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c=colors[species], label=species, s=40)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ax.set_xlabel('Sepal Length')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ax.set_ylabel('Sepal Width')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ax.set_zlabel('Petal Length')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ax.legend()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Iris 3D Feature Clusters</a:t>
            </a:r>
          </a:p>
        </p:txBody>
      </p:sp>
      <p:pic>
        <p:nvPicPr>
          <p:cNvPr id="19" name="Picture 18" descr="3d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Biomarker Discovery &amp; Cancer Cytology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Classifying malignant vs benign tumor cell clusters based on nuclear radius, perimeter, and texture dimensions.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Allows oncologists and ML researchers to visually confirm cluster segregation before deploying clinical AI diagnostic models.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🧊 TOPIC 01 • SECTION 1.9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Spatio-Temporal Surface — Flight Volumes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Modeling airline passenger seasonality trends as a continuous 3D surface landscape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Segoe UI"/>
              </a:rPr>
              <a:t>📖  Spatio-Temporal Matrix Surfaces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Transforms 2D tabular pivot matrices into continuous 3D topographic surfaces.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Reveals dual temporal trends: long-term yearly growth and repeating seasonal cycles.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Elevated ridges highlight consistent summer holiday travel surges across every decade.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Eliminates the cognitive clutter of plotting 12 separate overlapping line graphs.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flights = sns.load_dataset('flights')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pivot = flights.pivot(index='month', columns='year', values='passengers')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Month index (1-12) vs Years (1949-1960)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X, Y = np.meshgrid(np.arange(1949, 1961), np.arange(1, 13))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Z = pivot.values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plt.axes(projection='3d')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surf = ax.plot_surface(X, Y, Z, cmap='plasma', edgecolor='none')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ax.set_xlabel('Year')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ax.set_ylabel('Month')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ax.set_zlabel('Passengers (1000s)')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plt.colorbar(surf, shrink=0.6)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Segoe UI"/>
              </a:rPr>
              <a:t>📊  Seasonal Flight Surface Landscape</a:t>
            </a:r>
          </a:p>
        </p:txBody>
      </p:sp>
      <p:pic>
        <p:nvPicPr>
          <p:cNvPr id="19" name="Picture 18" descr="3d_flights_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Airline Fleet Optimization &amp; Hotel Capacity Planning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Dynamic demand forecasting and dynamic airfare pricing based on multi-decade holiday surges.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Enables airline network planners to reposition aircraft fleets months ahead of peak demand.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645920"/>
            <a:ext cx="2011680" cy="320040"/>
          </a:xfrm>
          <a:prstGeom prst="roundRect">
            <a:avLst/>
          </a:prstGeom>
          <a:solidFill>
            <a:srgbClr val="082B36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70078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6B6D4"/>
                </a:solidFill>
                <a:latin typeface="Segoe UI"/>
              </a:rPr>
              <a:t>MODULE 02 • SECTION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Geographic Data with
Basemap &amp; Cartopy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657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Exploration of planetary cartographic projection systems, geopolitical boundary layers, urban demographic scatter plots, great-circle flight navigation geodesic arcs, and modern Cartopy alternatives.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4663440"/>
            <a:ext cx="8686800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Key Functions: Basemap • drawcoastlines • drawcountries • drawgreatcircle • Cylindrical • Mollweide • Orthographic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Geospatial Cartography 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Foundational principles of mapping latitude/longitude coordinates onto 2D projections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16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The Geospatial Mapping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Earth is an oblate spheroid; projecting it onto a flat 2D plane inherently introduces distortion.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Distortion trade-offs: Area vs. Shape vs. Distance vs. Direction (Tissot's Indicatrix).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Basemap wraps GEOS (geometry engine) and PROJ4 (cartographic projections).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Provides high-level layer drawing primitives: coastlines, borders, parallels, and meridians.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from mpl_toolkits.basemap import Basemap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plt.figure(figsize=(10,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Instantiate cylindrical equidistant projection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 = Basemap(projection='cyl',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llcrnrlat=-90, urcrnrlat=90,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llcrnrlon=-180, urcrnrlon=180,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m.drawcoastlines(linewidth=0.5, color='#334155')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m.drawcountries(linewidth=0.3, color='#64748b')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m.fillcontinents(color='#1e293b', lake_color='#0b0f19')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m.drawmapboundary(fill_color='#0b0f19')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Cylindrical Projection Base Layer</a:t>
            </a:r>
          </a:p>
        </p:txBody>
      </p:sp>
      <p:pic>
        <p:nvPicPr>
          <p:cNvPr id="19" name="Picture 18" descr="basemap_cylindri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1" y="1700784"/>
            <a:ext cx="361269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Global Maritime Fleet Tracking &amp; Marine Logistics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Displaying real-time AIS transponder coordinates of international cargo container vessels across shipping lanes.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Provides the geo-referenced boundary canvas required to detect vessel proximity to exclusive economic zones.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Geographic Layer Composition &amp; Topography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Assembling geological, hydrological, and political feature boundaries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17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Layered Cartographic Composition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resolution='c' (crude), 'l' (low), 'i' (intermediate), 'h' (high), 'f' (full).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drawparallels() &amp; drawmeridians(): Overlays latitude and longitude reference gridlines.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shadedrelief(): Downloads and textures NASA Blue Marble elevation relief topography.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etopo(): Renders 1-arc-minute continental elevation and seafloor bathymetry.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 = Basemap(projection='mill', resolution='l')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Vector Boundary Layers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m.drawcoastlines(linewidth=0.8, color='#06b6d4')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m.drawcountries(linewidth=0.5, color='#94a3b8')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m.drawstates(linewidth=0.3, color='#475569')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m.drawrivers(linewidth=0.4, color='#38bdf8')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Coordinate Grids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m.drawparallels(np.arange(-90, 91, 30), labels=[1,0,0,0])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m.drawmeridians(np.arange(-180, 181, 60), labels=[0,0,0,1])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High-Res Shaded Physical Relief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m.shadedrelief(scale=0.5)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Multi-Layer Physical Topography</a:t>
            </a:r>
          </a:p>
        </p:txBody>
      </p:sp>
      <p:pic>
        <p:nvPicPr>
          <p:cNvPr id="19" name="Picture 18" descr="basemap_background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1" y="1700784"/>
            <a:ext cx="361269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Disaster Response &amp; Flood Inundation Modeling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Correlating real-time river water levels and radar precipitation maps against high-resolution terrain basins.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Crucial for emergency relief agencies to identify cut-off infrastructure and deploy flood barriers.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Geospatial Scatter — Global Urban Populations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Transforming GPS geographic coordinates into projected screen pixels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18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Coordinate Transformation Engine: m(lon, lat)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GPS coordinates use Spherical WGS84 Datum (Degrees Longitude &amp; Latitude).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Calling m(lon, lat) computes the exact 2D projection plane coordinates (x, y) in meters.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Once transformed, standard Matplotlib commands (scatter, plot, text) overlay seamlessly.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zorder parameter controls layer stacking order above continental fills.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Extracting City GPS Coordinates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lat = cities['latitude'].values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lon = cities['longitude'].values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population = cities['population'].values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Transform GPS (lon, lat) to projection screen coordinates (x, y)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x, y = m(lon, lat)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Scatter plot with size scaled to population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m.scatter(x, y, s=population/50000,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c=population, cmap='YlOrRd',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alpha=0.75, zorder=5)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plt.colorbar(label='Urban Population')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plt.title('Global Megacities Demographics')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Global Urban Population Density</a:t>
            </a:r>
          </a:p>
        </p:txBody>
      </p:sp>
      <p:pic>
        <p:nvPicPr>
          <p:cNvPr id="19" name="Picture 18" descr="basemap_c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052" y="1700784"/>
            <a:ext cx="323697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Telecommunications &amp; Cloud Datacenter Site Selection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Analyzing global customer density clusters to determine latency-optimal cloud server regions.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Overlays undersea fiber optic cable landing zones directly with high-density population nodes.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Great Circle Geodesic Navigation Routes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Calculating and rendering the shortest spherical travel paths across the globe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19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Spherical Geodesics vs. Flat Map 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On a flat map, straight lines are Rhumb lines — they do NOT represent shortest distance.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The true shortest distance between two spherical points is an arc along a Great Circle.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ax.drawgreatcircle() internally computes spherical trigonometry geodesic interpolation.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Curves significantly toward high latitudes (e.g., flight arcs passing over Greenland).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New York to London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ny_lat, ny_lon = 40.7128, -74.0060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lon_lat, lon_lon = 51.5074, -0.1278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Tokyo to Sydney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tok_lat, tok_lon = 35.6762, 139.6503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syd_lat, syd_lon = -33.8688, 151.2093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m.drawgreatcircle(ny_lon, ny_lat, lon_lon, lon_lat,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color='#f43f5e', linewidth=2.5,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label='NYC -&gt; London')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m.drawgreatcircle(tok_lon, tok_lat, syd_lon, syd_lat,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color='#38bdf8', linewidth=2.5,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label='Tokyo -&gt; Sydney')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Geodesic Trans-Oceanic Flight Arcs</a:t>
            </a:r>
          </a:p>
        </p:txBody>
      </p:sp>
      <p:pic>
        <p:nvPicPr>
          <p:cNvPr id="19" name="Picture 18" descr="basemap_great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700784"/>
            <a:ext cx="269748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Commercial Aviation Route Planning &amp; Fuel Optimization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Computing optimal flight paths for trans-Atlantic and trans-Pacific commercial jet routes.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Saves commercial airlines millions of gallons of aviation jet fuel annually by reducing flight miles.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Cartographic Projection Systems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Evaluating distortion trade-offs across Cylindrical, Mollweide, and Orthographic views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20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Classification of Map Projections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Conformal Projections (Mercator, LCC): Preserves local angles &amp; shapes; distorts polar area.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Equal-Area Projections (Mollweide, Albers): Preserves true area ratios; distorts shapes at edges.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Orthographic Projection: Simulates a 3D hemisphere view as viewed from deep outer space.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Choice of projection must match the analytical goal (navigational vs. thematic statistics).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Cylindrical Equidistant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m1 = Basemap(projection='cyl',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Mollweide (Equal-Area Pseudocylindrical)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m2 = Basemap(projection='moll', lon_0=0,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Orthographic (3D Globe as seen from outer space)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m3 = Basemap(projection='ortho', lat_0=20, lon_0=80,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resolution='c')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Lambert Conformal Conic (Middle Latitudes)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m4 = Basemap(projection='lcc', lat_1=20, lat_2=40,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lon_0=80, width=5E6, height=4E6)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Orthographic Planetary Globe View</a:t>
            </a:r>
          </a:p>
        </p:txBody>
      </p:sp>
      <p:pic>
        <p:nvPicPr>
          <p:cNvPr id="19" name="Picture 18" descr="basemap_perspective_ort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700784"/>
            <a:ext cx="269748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Global Climate Research &amp; Carbon Budget Accounting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Equal-area Mollweide projections ensure carbon emission calculations are not visually biased by polar landmasses.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Prevents Greenland and Antarctica from appearing deceptively larger than the entire continent of Africa.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Modern Geospatial Stack — Cartopy &amp; GeoPandas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The next-generation standard for Python geospatial data visualization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21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📖  Why the Community Transitioned to Cartopy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Basemap has reached official end-of-life; Cartopy is the official active successor.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Native integration with Matplotlib Axes (subclasses GeoAxes directly).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Automatic coordinate re-projection: pass transform=ccrs.PlateCarree() to any plot call.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Seamless interoperability with GeoPandas, Shapely, and xarray raster grids.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cartopy.crs as ccrs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cartopy.feature as cfeature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 = plt.figure(figsize=(10,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 = fig.add_subplot(1, 1, 1,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   projection=ccrs.Robinson())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Native vector feature layers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ax.add_feature(cfeature.COASTLINE, lw=0.8)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ax.add_feature(cfeature.BORDERS, linestyle=':')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ax.add_feature(cfeature.LAND, edgecolor='black')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ax.add_feature(cfeature.OCEAN, color='#0f172a')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ax.gridlines(draw_labels=True)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Segoe UI"/>
              </a:rPr>
              <a:t>📊  Mollweide Global Equal-Area Map</a:t>
            </a:r>
          </a:p>
        </p:txBody>
      </p:sp>
      <p:pic>
        <p:nvPicPr>
          <p:cNvPr id="19" name="Picture 18" descr="basemap_mollwe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1" y="1700784"/>
            <a:ext cx="3612696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Modern Web GIS &amp; Cloud Native Geospatial Pipelines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Integrating Cloud-Optimized GeoTIFFs (COG) and OpenStreetMap vector tiles in production data pipelines.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Enables effortless multi-projection analytics without deprecation risks or manual coordinate conversion bugs.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🗺️ TOPIC 02 • SECTION 2.7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Geospatial Decision Matrix &amp; Best Practices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Architectural guidelines for selecting the optimal projection for spatial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45720" cy="2240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Global Thematic Studies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Mollweide / Robinson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Preserves relative area proportions accurately across continents.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Global greenhouse gas budgets, population distributions, biodiversity loss indices.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63040"/>
            <a:ext cx="45720" cy="2240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Segoe UI"/>
              </a:rPr>
              <a:t>Regional Navigation &amp; GIS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Lambert Conformal Conic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Preserves local shapes, angles, and distances across mid-latitude zones.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National meteorological rainfall radar, road networks, aeronautical sectional charts.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45720" cy="2240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Segoe UI"/>
              </a:rPr>
              <a:t>Planetary Hemisphere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Orthographic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Provides realistic 3D globe perspective as viewed from geostationary orbit.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Satellite mission telemetry, intercontinental missile defense, global communications.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931920"/>
            <a:ext cx="45720" cy="2240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Equatorial &amp; Marine Lanes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Projection: Mercator / Cylindrical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Lines of constant compass heading (rhumb lines) plot as straight segments.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Practical Use Case:
Nautical maritime navigation, marine automated identification systems (AIS).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645920"/>
            <a:ext cx="2011680" cy="320040"/>
          </a:xfrm>
          <a:prstGeom prst="roundRect">
            <a:avLst/>
          </a:prstGeom>
          <a:solidFill>
            <a:srgbClr val="38101E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70078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43F5E"/>
                </a:solidFill>
                <a:latin typeface="Segoe UI"/>
              </a:rPr>
              <a:t>MODULE 03 • SECTION 5.1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194560"/>
            <a:ext cx="8686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8FAFC"/>
                </a:solidFill>
                <a:latin typeface="Segoe UI"/>
              </a:rPr>
              <a:t>Statistical Data Visualization
with Seaborn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6576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Segoe UI"/>
              </a:rPr>
              <a:t>Elevating exploratory data analysis: high-level declarative syntax, automated statistical aggregation, kernel density estimation, multi-dimensional pairplots, categorical distributions, and linear regression models.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4663440"/>
            <a:ext cx="8686800" cy="18288"/>
          </a:xfrm>
          <a:prstGeom prst="rect">
            <a:avLst/>
          </a:prstGeom>
          <a:solidFill>
            <a:srgbClr val="23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4846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onsolas"/>
              </a:rPr>
              <a:t>Key Functions: sns.histplot • sns.kdeplot • sns.jointplot • sns.pairplot • sns.catplot • sns.heatmap • sns.lmplot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Seaborn Design Philosophy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The declarative grammar of statistical data exploration in Python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Why Seaborn Built Upon Matplotlib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Matplotlib is imperative (requires explicit loops, color assignments, legend hooks).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Seaborn is declarative: directly consumes tidy DataFrames via columns (x, y, hue, col).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Built-in statistical aggregation: computes confidence intervals and error bars automatically.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Modern aesthetic defaults: sophisticated color palettes, integrated grid layout systems.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Declarative API: specify WHAT to plot, not HOW to draw it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tips = sns.load_dataset('tips')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sns.relplot(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data=tips,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x='total_bill', y='tip',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hue='time', size='size', style='sex',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col='day', col_wrap=2,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palette='magma'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Declarative Faceted Subplots</a:t>
            </a:r>
          </a:p>
        </p:txBody>
      </p:sp>
      <p:pic>
        <p:nvPicPr>
          <p:cNvPr id="19" name="Picture 18" descr="seaborn_ca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657" y="1700784"/>
            <a:ext cx="3247765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Customer Churn &amp; Behavioral Economics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Rapid exploratory data analysis (EDA) investigating how multiple customer variables interact across segments.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Reduces 50 lines of tedious Matplotlib code into a single 4-line expressive declarative statement.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Univariate Distributions — Histograms &amp; KDE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Estimating continuous probability density functions from empirical observations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25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Kernel Density Estimation (KDE) Mechanics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Histograms depend heavily on bin edge placement and bin width selection.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KDE centers a smooth Gaussian kernel curve at every empirical sample point.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Summing all individual kernels yields a continuous probability density curve.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rugplot() adds tick marks at the bottom, directly indicating raw data density.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matplotlib.pyplot as plt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data = np.random.randn(1000)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fig, axes = plt.subplots(1, 2, figsize=(10, 4))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Histogram with KDE overlay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sns.histplot(data, kde=True, color='#f43f5e',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bins=30, ax=axes[0])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axes[0].set_title('Histogram + Gaussian KDE')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Cumulative &amp; Rug Distribution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sns.kdeplot(data, fill=True, color='#06b6d4',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cumulative=True, ax=axes[1])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sns.rugplot(data, color='#38bdf8', ax=axes[1])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axes[1].set_title('Cumulative Probability Density')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Histograms &amp; KDE Density Curves</a:t>
            </a:r>
          </a:p>
        </p:txBody>
      </p:sp>
      <p:pic>
        <p:nvPicPr>
          <p:cNvPr id="19" name="Picture 18" descr="seaborn_histplot_k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4220" y="1700784"/>
            <a:ext cx="359664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Algorithmic Trading &amp; Asset Return Volatility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Evaluating stock market return distributions to test for heavy tails, skewness, and black-swan outliers.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Prevents quantitative risk models from underestimating catastrophic market liquidation events.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Bivariate Relationships — sns.jointplot()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Combining central scatter/hexbin plots with marginal univariate density curves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26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Joint &amp; Marginal Distribution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Simultaneously visualizes the 2D joint relationship and 1D marginals on the axes.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kind='hex': Replaces overlapping point scatter with hexagonal density accumulation.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kind='kde': Produces smooth 2D elevation contour isolines of probability density.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Eliminates scatter overplotting when analyzing large datasets (100,000+ points).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Hexagonal Binning with Marginal Histograms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g = sns.jointplot(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data=iris,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x='sepal_length', y='sepal_width',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kind='hex', cmap='plasma',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marginal_kws=dict(bins=20, fill=True)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g.fig.suptitle('Hexbin Density with Marginal Distributions')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Jointplot Hexbin Bivariate Output</a:t>
            </a:r>
          </a:p>
        </p:txBody>
      </p:sp>
      <p:pic>
        <p:nvPicPr>
          <p:cNvPr id="19" name="Picture 18" descr="seaborn_join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1700784"/>
            <a:ext cx="2697480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E-Commerce Pricing Optimization &amp; Cart Value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Analyzing the correlation between marketing ad spend (X) and average order revenue (Y).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Hexagonal bins immediately highlight the highest-density conversion sweet spots.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Multi-Feature Matrices — sns.pairplot()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Generating N×N pairwise feature scatter matrices across class categories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27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Pairwise Feature Correlation Matrices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Automatically renders all N×N pairwise bivariate combinations across continuous features.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Diagonal plots: Display univariate KDE distribution for each individual feature.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Off-diagonal plots: Show pairwise scatter relationships to reveal feature correlations.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hue='species': Color-codes points by categorical label to show cluster separation.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38BDF8"/>
                </a:solidFill>
                <a:latin typeface="Consolas"/>
              </a:rPr>
              <a:t>import seaborn as sns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iris = sns.load_dataset('iris')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Full N x N Feature Scatter &amp; Density Matrix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sns.pairplot(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data=iris,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hue='species',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palette='Set1',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diag_kind='kde',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markers=['o', 's', 'D'],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plot_kws={'alpha': 0.8}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Pairplot Feature Matrix Grid</a:t>
            </a:r>
          </a:p>
        </p:txBody>
      </p:sp>
      <p:pic>
        <p:nvPicPr>
          <p:cNvPr id="19" name="Picture 18" descr="seaborn_pair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951" y="1700784"/>
            <a:ext cx="3021177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Clinical Pharmacology &amp; Drug Discovery Screening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Screening hundreds of molecular chemical compound properties against therapeutic target efficacy.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Identifies collinear features immediately, enabling machine learning engineers to prune redundant variables.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Categorical Distributions — Box, Violin &amp; Strip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Comparing continuous variable distributions across categorical grouping levels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28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Categorical Distribution Modalities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Boxplot: Encodes 5-number summary (Min, Q1, Median, Q3, Max) and identifies IQR outliers.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Violinplot: Combines boxplot with mirrored KDE curves to reveal bimodal distributions.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split=True: Folds two category halves together for direct visual comparison.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catplot(): Universal entry point for box, violin, strip, swarm, and bar charts.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tips = sns.load_dataset('tips')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fig, axes = plt.subplots(1, 2, figsize=(10, 4))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Boxplot with Quartiles &amp; Outliers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sns.boxplot(data=tips, x='day', y='total_bill',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hue='smoker', palette='Blues', ax=axes[0])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axes[0].set_title('Boxplot: Quartiles &amp; Whiskers')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Violinplot with Embedded KDE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sns.violinplot(data=tips, x='day', y='total_bill',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hue='sex', split=True, palette='Pastel1',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ax=axes[1])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axes[1].set_title('Violinplot: Split Probability Density')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Categorical Box &amp; Violin Comparisons</a:t>
            </a:r>
          </a:p>
        </p:txBody>
      </p:sp>
      <p:pic>
        <p:nvPicPr>
          <p:cNvPr id="19" name="Picture 18" descr="seaborn_ca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657" y="1700784"/>
            <a:ext cx="3247765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Healthcare Hospital Operations &amp; Patient Wait Times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Comparing patient emergency room wait times across hospital triage categories and shifts.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Violin plots reveal bimodal distributions that single-number averages (means) completely conceal.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Correlation Matrices &amp; Heatmaps — sns.heatmap()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Visualizing multidimensional correlation coefficients and tabular intensity grids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29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Matrix Intensity &amp; Correlation Mapping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Takes 2D matrix arrays and encodes numerical magnitudes as color gradients.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annot=True overlays numerical cell values directly inside each rectangle.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fmt='d' formats integers; fmt='.2f' formats continuous correlation Pearson coefficients.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linewidths=0.5 draws subtle boundary lines to distinguish adjacent cell values.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flights = sns.load_dataset('flights')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pivot = flights.pivot(index='month', columns='year',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                  values='passengers')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plt.figure(figsize=(9, 6))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sns.heatmap(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pivot,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annot=True, fmt='d',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cmap='YlGnBu',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linewidths=0.5, linecolor='#1e293b',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cbar_kws={'label': 'Passenger Count (1000s)'}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plt.title('Monthly Flight Passenger Volume Heatmap')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Faceted Flight Matrix Heatmap</a:t>
            </a:r>
          </a:p>
        </p:txBody>
      </p:sp>
      <p:pic>
        <p:nvPicPr>
          <p:cNvPr id="19" name="Picture 18" descr="seabor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304" y="1700784"/>
            <a:ext cx="3776471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Genomic Microarray Expression &amp; FinTech Correlations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Computing Pearson correlation matrices across thousands of financial equities to construct diversified investment portfolios.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Instantly reveals highly correlated asset pairs to eliminate systemic risk exposure.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Linear Regression &amp; Residuals — sns.lmplot()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Fitting ordinary least squares regression models with statistical confidence bands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30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5349240" cy="182880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81328"/>
            <a:ext cx="45720" cy="1609344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📖  Statistical Regression Modeling with Confidence Intervals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55648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19">
                <a:solidFill>
                  <a:srgbClr val="F8FAFC"/>
                </a:solidFill>
                <a:latin typeface="Segoe UI"/>
              </a:rPr>
              <a:t>•  Combines regplot() with FacetGrid to plot linear models across categorical subsets.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Automatically estimates regression slope, intercept, and translucent 95% bootstrap confidence bands.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col &amp; row arguments break the dataset into separate regression subplots automatically.</a:t>
            </a:r>
          </a:p>
          <a:p>
            <a:pPr>
              <a:spcAft>
                <a:spcPts val="400"/>
              </a:spcAft>
            </a:pPr>
            <a:r>
              <a:rPr sz="919">
                <a:solidFill>
                  <a:srgbClr val="94A3B8"/>
                </a:solidFill>
                <a:latin typeface="Segoe UI"/>
              </a:rPr>
              <a:t>•  order=2 fits polynomial curves; robust=True down-weights outlier influence.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1840"/>
            <a:ext cx="5349240" cy="3108960"/>
          </a:xfrm>
          <a:prstGeom prst="roundRect">
            <a:avLst/>
          </a:prstGeom>
          <a:solidFill>
            <a:srgbClr val="060913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291840"/>
            <a:ext cx="5349240" cy="274320"/>
          </a:xfrm>
          <a:prstGeom prst="rect">
            <a:avLst/>
          </a:prstGeom>
          <a:solidFill>
            <a:srgbClr val="0E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43F5E"/>
                </a:solidFill>
                <a:latin typeface="Consolas"/>
              </a:rPr>
              <a:t>💻  [In]: Python 3.12 (Colab / Jupyter)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3602736"/>
            <a:ext cx="502005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tips = sns.load_dataset('tips')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/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10B981"/>
                </a:solidFill>
                <a:latin typeface="Consolas"/>
              </a:rPr>
              <a:t># Faceted Linear Regression with 95% Confidence Band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sns.lmplot(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data=tips,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x='total_bill', y='tip',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hue='smoker', col='time',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markers=['o', 'x'],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palette='Set1',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scatter_kws={'alpha': 0.6},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    ci=95  # 95% Bootstrap Confidence Interval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)</a:t>
            </a:r>
          </a:p>
          <a:p>
            <a:pPr>
              <a:spcAft>
                <a:spcPts val="150"/>
              </a:spcAft>
            </a:pPr>
            <a:r>
              <a:rPr sz="850">
                <a:solidFill>
                  <a:srgbClr val="F8FAFC"/>
                </a:solidFill>
                <a:latin typeface="Consolas"/>
              </a:rPr>
              <a:t>plt.show()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1371600"/>
            <a:ext cx="5623560" cy="310896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46304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43F5E"/>
                </a:solidFill>
                <a:latin typeface="Segoe UI"/>
              </a:rPr>
              <a:t>📊  Faceted Linear Regression with CI</a:t>
            </a:r>
          </a:p>
        </p:txBody>
      </p:sp>
      <p:pic>
        <p:nvPicPr>
          <p:cNvPr id="19" name="Picture 18" descr="seaborn_lm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783" y="1700784"/>
            <a:ext cx="3089513" cy="26974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6080760" y="4617720"/>
            <a:ext cx="5623560" cy="17830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80760" y="4617720"/>
            <a:ext cx="562356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4709160"/>
            <a:ext cx="5257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Segoe UI"/>
              </a:rPr>
              <a:t>🌐  Real-World Use Case &amp; Industry Application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946904"/>
            <a:ext cx="5257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50"/>
              </a:spcAft>
            </a:pPr>
            <a:r>
              <a:rPr b="1" sz="880">
                <a:solidFill>
                  <a:srgbClr val="10B981"/>
                </a:solidFill>
              </a:rPr>
              <a:t>🏢 Industry: </a:t>
            </a:r>
            <a:r>
              <a:rPr sz="880">
                <a:solidFill>
                  <a:srgbClr val="F8FAFC"/>
                </a:solidFill>
              </a:rPr>
              <a:t>Predictive Marketing Attribution &amp; Customer LTV</a:t>
            </a:r>
          </a:p>
          <a:p>
            <a:pPr>
              <a:spcAft>
                <a:spcPts val="250"/>
              </a:spcAft>
            </a:pPr>
            <a:r>
              <a:rPr b="1" sz="880">
                <a:solidFill>
                  <a:srgbClr val="F59E0B"/>
                </a:solidFill>
              </a:rPr>
              <a:t>💡 Application: </a:t>
            </a:r>
            <a:r>
              <a:rPr sz="880">
                <a:solidFill>
                  <a:srgbClr val="94A3B8"/>
                </a:solidFill>
              </a:rPr>
              <a:t>Estimating customer lifetime value (LTV) growth as a function of initial acquisition discount tier.</a:t>
            </a:r>
          </a:p>
          <a:p>
            <a:r>
              <a:rPr b="1" sz="880">
                <a:solidFill>
                  <a:srgbClr val="3B82F6"/>
                </a:solidFill>
              </a:rPr>
              <a:t>🎯 Key Impact: </a:t>
            </a:r>
            <a:r>
              <a:rPr sz="880">
                <a:solidFill>
                  <a:srgbClr val="94A3B8"/>
                </a:solidFill>
              </a:rPr>
              <a:t>Confidence bands signal exactly where sample sizes are too small to support business decisions.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Scientific Color Palettes &amp; Accessible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Color theory guidelines for continuous, diverging, and categorical visualizations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31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45720" cy="224028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Segoe UI"/>
              </a:rPr>
              <a:t>Qualitative / Categorical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Set1, deep, pastel, dark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Unordered discrete classes with distinct hues but equal visual luminance.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Species classification, geographical regions, departmental divisions.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46304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463040"/>
            <a:ext cx="45720" cy="22402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57276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Segoe UI"/>
              </a:rPr>
              <a:t>Sequential / Continuous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4708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mako, rocket, viridis, Blues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0312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Ordered numeric metrics progressing smoothly from light to dark.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83464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290779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Density heatmaps, population volume, elevation topography.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31920"/>
            <a:ext cx="45720" cy="2240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Segoe UI"/>
              </a:rPr>
              <a:t>Diverging / Polarizing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coolwarm, vlag, seismic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Highlighting positive vs negative deviation from a neutral critical center.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Stock market profit/loss, temperature anomaly above/below historical baseline.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31920"/>
            <a:ext cx="5440680" cy="224028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3931920"/>
            <a:ext cx="45720" cy="2240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4041648"/>
            <a:ext cx="5074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Segoe UI"/>
              </a:rPr>
              <a:t>Colorblind Accessible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315968"/>
            <a:ext cx="5074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8FAFC"/>
                </a:solidFill>
                <a:latin typeface="Segoe UI"/>
              </a:rPr>
              <a:t>Standard Palettes: colorblind, cmocean, plasma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572000"/>
            <a:ext cx="5074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Segoe UI"/>
              </a:rPr>
              <a:t>Perceptually uniform color sequences optimized for deuteranopia &amp; protanopia.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55080" y="5303520"/>
            <a:ext cx="5074920" cy="685800"/>
          </a:xfrm>
          <a:prstGeom prst="roundRect">
            <a:avLst/>
          </a:prstGeom>
          <a:solidFill>
            <a:srgbClr val="0C1220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5376672"/>
            <a:ext cx="4892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8FAFC"/>
                </a:solidFill>
                <a:latin typeface="Segoe UI"/>
              </a:rPr>
              <a:t>🎯 Typical Application:
Official scientific publishing, medical interfaces, executive dashboards.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Seaborn Multi-Plot Visual Gallery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Comprehensive catalog of Seaborn figure-level and axes-level statistical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32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5087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Histograms &amp; Density Estimation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099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sns.histplot &amp; sns.kdeplot</a:t>
            </a:r>
          </a:p>
        </p:txBody>
      </p:sp>
      <p:pic>
        <p:nvPicPr>
          <p:cNvPr id="12" name="Picture 11" descr="seaborn_histplot_k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3308" y="1920240"/>
            <a:ext cx="2279904" cy="170992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172200" y="14173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5087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Bivariate Relationships &amp; Hexbins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099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sns.jointplot(kind='hex')</a:t>
            </a:r>
          </a:p>
        </p:txBody>
      </p:sp>
      <p:pic>
        <p:nvPicPr>
          <p:cNvPr id="16" name="Picture 15" descr="seaborn_joint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7576" y="1920240"/>
            <a:ext cx="1709928" cy="170992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02920" y="39319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0233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Categorical Facets &amp; Violin Splits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245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sns.catplot(kind='violin')</a:t>
            </a:r>
          </a:p>
        </p:txBody>
      </p:sp>
      <p:pic>
        <p:nvPicPr>
          <p:cNvPr id="20" name="Picture 19" descr="seaborn_catp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883" y="4434840"/>
            <a:ext cx="2058753" cy="170992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172200" y="3931920"/>
            <a:ext cx="5440680" cy="23317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4023360"/>
            <a:ext cx="5074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8FAFC"/>
                </a:solidFill>
                <a:latin typeface="Segoe UI"/>
              </a:rPr>
              <a:t>Faceted Matrices &amp; Heatmaps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24528"/>
            <a:ext cx="5074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43F5E"/>
                </a:solidFill>
                <a:latin typeface="Segoe UI"/>
              </a:rPr>
              <a:t>sns.heatmap(annot=True)</a:t>
            </a:r>
          </a:p>
        </p:txBody>
      </p:sp>
      <p:pic>
        <p:nvPicPr>
          <p:cNvPr id="24" name="Picture 23" descr="seaborn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5590" y="4434840"/>
            <a:ext cx="2393899" cy="170992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43F5E"/>
                </a:solidFill>
                <a:latin typeface="Segoe UI"/>
              </a:rPr>
              <a:t>📊 TOPIC 03 • SECTION 3.10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Seaborn Best Practices &amp;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Engineering guidelines for clean statistical reporting and publication-grade figures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33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54864" cy="102412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43F5E"/>
                </a:solidFill>
                <a:latin typeface="Segoe UI"/>
              </a:rPr>
              <a:t>✓  Figure-Level vs Axes-Level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0195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Understand the difference: relplot, catplot, lmplot create their own FacetGrid figures; scatterplot, boxplot, histplot draw directly onto existing Matplotlib axes.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5176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51760"/>
            <a:ext cx="54864" cy="10241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Segoe UI"/>
              </a:rPr>
              <a:t>✓  Tidy Data Formatting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090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Always reshape wide tables into tidy long-form DataFrames using pandas.melt() before plotting in Seaborn.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4048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840480"/>
            <a:ext cx="54864" cy="10241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97764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Segoe UI"/>
              </a:rPr>
              <a:t>✓  Perceptual Color Consistency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7939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Never use qualitative palettes for continuous data; verify that your color schemes pass accessibility checks.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83112" cy="102412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029200"/>
            <a:ext cx="54864" cy="10241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6636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Segoe UI"/>
              </a:rPr>
              <a:t>✓  Statistical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8FAFC"/>
                </a:solidFill>
                <a:latin typeface="Segoe UI"/>
              </a:rPr>
              <a:t>State confidence intervals explicitly (e.g. ci=95); never hide high variance by showing only bar means without error bars.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Segoe UI"/>
              </a:rPr>
              <a:t>⚖️ BENCHMARK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Matplotlib 3D vs. Basemap/Cartopy vs. Seaborn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Comparative architectural trade-offs across all three seminar visual libraries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34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63040"/>
            <a:ext cx="256032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Segoe UI"/>
              </a:rPr>
              <a:t>Evaluation Metric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463040"/>
            <a:ext cx="283464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554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Segoe UI"/>
              </a:rPr>
              <a:t>Matplotlib 3D (mplot3d)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463040"/>
            <a:ext cx="283464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554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Segoe UI"/>
              </a:rPr>
              <a:t>Basemap &amp; Cartopy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463040"/>
            <a:ext cx="2834640" cy="411480"/>
          </a:xfrm>
          <a:prstGeom prst="roundRect">
            <a:avLst/>
          </a:prstGeom>
          <a:solidFill>
            <a:srgbClr val="1B253D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554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8FAFC"/>
                </a:solidFill>
                <a:latin typeface="Segoe UI"/>
              </a:rPr>
              <a:t>Seaborn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1929384"/>
            <a:ext cx="256032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00253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Primary Domain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1929384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200253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Spatial 3D &amp; Volumetric Surfaces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929384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200253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Geographic &amp; Geodesic GIS Mapping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929384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00253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Statistical Multi-Variable Distributions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350008"/>
            <a:ext cx="256032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42316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Data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54680" y="2350008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46120" y="2423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(x, y, z) Triples &amp; 2D Meshgrids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2350008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2423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GPS (Lat, Lon) &amp; GeoJSON Geometries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2350008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242316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Tidy Long-Form Pandas DataFrames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2770632"/>
            <a:ext cx="256032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84378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API Abstraction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54680" y="2770632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46120" y="284378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Low-Level Imperative Canvas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2770632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284378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Mid-Level Projection Coordinates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2770632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284378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High-Level Declarative Semantic Grammar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191256"/>
            <a:ext cx="256032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6440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Strengths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54680" y="3191256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46120" y="32644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Full 3D rotation, wireframes, Delaunay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35040" y="3191256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32644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Accurate cartographic transforms, coastlines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15400" y="3191256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06840" y="326440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Automated confidence intervals, aesthetics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611880"/>
            <a:ext cx="256032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68503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Limitations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54680" y="3611880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246120" y="36850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Complex layout code, static in print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35040" y="3611880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36850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Basemap deprecated; requires Cartopy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3611880"/>
            <a:ext cx="2834640" cy="384048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06840" y="368503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2D only; lacks native 3D spatial surfaces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8640" y="4032504"/>
            <a:ext cx="256032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" y="41056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1" i="0">
                <a:solidFill>
                  <a:srgbClr val="F8FAFC"/>
                </a:solidFill>
                <a:latin typeface="Segoe UI"/>
              </a:rPr>
              <a:t>Ideal Use Case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154680" y="4032504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46120" y="41056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CFD simulation, biophysics trajectories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035040" y="4032504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26480" y="41056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Logistics routing, global climate models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32504"/>
            <a:ext cx="2834640" cy="384048"/>
          </a:xfrm>
          <a:prstGeom prst="roundRect">
            <a:avLst/>
          </a:prstGeom>
          <a:solidFill>
            <a:srgbClr val="0E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0565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Exploratory data analysis, ML feature diagnostics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20040"/>
            <a:ext cx="73152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38912"/>
            <a:ext cx="2011680" cy="256032"/>
          </a:xfrm>
          <a:prstGeom prst="roundRect">
            <a:avLst/>
          </a:prstGeom>
          <a:solidFill>
            <a:srgbClr val="131B2E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"/>
            <a:ext cx="1920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B981"/>
                </a:solidFill>
                <a:latin typeface="Segoe UI"/>
              </a:rPr>
              <a:t>📱 INTERACTIVE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31520"/>
            <a:ext cx="9601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 i="0">
                <a:solidFill>
                  <a:srgbClr val="F8FAFC"/>
                </a:solidFill>
                <a:latin typeface="Segoe UI"/>
              </a:rPr>
              <a:t>Interactive Web Demos &amp; Presentation Videos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9601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Segoe UI"/>
              </a:rPr>
              <a:t>Scan QR codes with any smartphone camera for instant mobile access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07040" y="438912"/>
            <a:ext cx="1051560" cy="274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0" y="484632"/>
            <a:ext cx="1051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94A3B8"/>
                </a:solidFill>
                <a:latin typeface="Consolas"/>
              </a:rPr>
              <a:t>35 / 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26974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691640"/>
            <a:ext cx="22402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qr_ppt_down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01368"/>
            <a:ext cx="2020824" cy="2020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" y="40690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8FAFC"/>
                </a:solidFill>
                <a:latin typeface="Segoe UI"/>
              </a:rPr>
              <a:t>Download Seminar 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348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Official 36-Slide PPTX Presentation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74920"/>
            <a:ext cx="2331720" cy="960120"/>
          </a:xfrm>
          <a:prstGeom prst="roundRect">
            <a:avLst/>
          </a:prstGeom>
          <a:solidFill>
            <a:srgbClr val="0C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59E0B"/>
                </a:solidFill>
                <a:latin typeface="Segoe UI"/>
              </a:rPr>
              <a:t>📷 SCAN WITH PHONE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44067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4A3B8"/>
                </a:solidFill>
                <a:latin typeface="Segoe UI"/>
              </a:rPr>
              <a:t>gurup7029-coder.github.io
/.../download-ppt.html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1463040"/>
            <a:ext cx="269748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66160" y="1691640"/>
            <a:ext cx="22402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qr_english_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8" y="1801368"/>
            <a:ext cx="2020824" cy="20208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429000" y="40690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8FAFC"/>
                </a:solidFill>
                <a:latin typeface="Segoe UI"/>
              </a:rPr>
              <a:t>English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4348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Full 7-min HD 3D Video Narration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5074920"/>
            <a:ext cx="2331720" cy="960120"/>
          </a:xfrm>
          <a:prstGeom prst="roundRect">
            <a:avLst/>
          </a:prstGeom>
          <a:solidFill>
            <a:srgbClr val="0C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0440" y="516636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B82F6"/>
                </a:solidFill>
                <a:latin typeface="Segoe UI"/>
              </a:rPr>
              <a:t>📷 SCAN WITH PHONE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44067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4A3B8"/>
                </a:solidFill>
                <a:latin typeface="Segoe UI"/>
              </a:rPr>
              <a:t>gurup7029-coder.github.io
/.../video-english.html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1463040"/>
            <a:ext cx="26974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0" y="1691640"/>
            <a:ext cx="22402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qr_tanglish_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1801368"/>
            <a:ext cx="2020824" cy="20208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63640" y="40690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8FAFC"/>
                </a:solidFill>
                <a:latin typeface="Segoe UI"/>
              </a:rPr>
              <a:t>Tanglish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4348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Full 3D Presentation in Tamil + English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5074920"/>
            <a:ext cx="2331720" cy="960120"/>
          </a:xfrm>
          <a:prstGeom prst="roundRect">
            <a:avLst/>
          </a:prstGeom>
          <a:solidFill>
            <a:srgbClr val="0C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516636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8B5CF6"/>
                </a:solidFill>
                <a:latin typeface="Segoe UI"/>
              </a:rPr>
              <a:t>📷 SCAN WITH PHONE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544067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4A3B8"/>
                </a:solidFill>
                <a:latin typeface="Segoe UI"/>
              </a:rPr>
              <a:t>gurup7029-coder.github.io
/.../video-tanglish.html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1463040"/>
            <a:ext cx="2697480" cy="4846320"/>
          </a:xfrm>
          <a:prstGeom prst="roundRect">
            <a:avLst/>
          </a:prstGeom>
          <a:solidFill>
            <a:srgbClr val="131B2E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06840" y="1463040"/>
            <a:ext cx="269748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235440" y="1691640"/>
            <a:ext cx="22402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qr_interactive_d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45168" y="1801368"/>
            <a:ext cx="2020824" cy="20208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098280" y="4069080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8FAFC"/>
                </a:solidFill>
                <a:latin typeface="Segoe UI"/>
              </a:rPr>
              <a:t>Interactive 3D Web Deck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443484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Segoe UI"/>
              </a:rPr>
              <a:t>Live WebGL 3D Rotation on Mobile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20" y="5074920"/>
            <a:ext cx="2331720" cy="960120"/>
          </a:xfrm>
          <a:prstGeom prst="roundRect">
            <a:avLst/>
          </a:prstGeom>
          <a:solidFill>
            <a:srgbClr val="0C1424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516636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B6D4"/>
                </a:solidFill>
                <a:latin typeface="Segoe UI"/>
              </a:rPr>
              <a:t>📷 SCAN WITH PHONE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9720" y="544067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94A3B8"/>
                </a:solidFill>
                <a:latin typeface="Segoe UI"/>
              </a:rPr>
              <a:t>gurup7029-coder.github.io
/.../index.html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914400"/>
            <a:ext cx="10360152" cy="50292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10360152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57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8FAFC"/>
                </a:solidFill>
                <a:latin typeface="Segoe UI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B6D4"/>
                </a:solidFill>
                <a:latin typeface="Segoe UI"/>
              </a:rPr>
              <a:t>Data Visualization in Python Seminar • Master Practical 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2926080"/>
            <a:ext cx="8531352" cy="2011680"/>
          </a:xfrm>
          <a:prstGeom prst="roundRect">
            <a:avLst/>
          </a:prstGeom>
          <a:solidFill>
            <a:srgbClr val="0E1526"/>
          </a:solidFill>
          <a:ln w="12700">
            <a:solidFill>
              <a:srgbClr val="2332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03120" y="310896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3D Plotting: Spatial coordinates, parametric spirals, and Delaunay meshes illuminate complex geometries.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52044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Basemap &amp; Cartopy: Precise cartographic projections reveal planetary phenomena without geographical distortion.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93192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Seaborn: Declarative statistical graphics turn raw exploratory data into actionable predictive insights.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343400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8FAFC"/>
                </a:solidFill>
                <a:latin typeface="Segoe UI"/>
              </a:rPr>
              <a:t>✓ Mastered the unified workflow connecting data engineering, statistical modeling, and executive storytelling.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03520"/>
            <a:ext cx="9445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94A3B8"/>
                </a:solidFill>
                <a:latin typeface="Segoe UI"/>
              </a:rPr>
              <a:t>Presenter: Guruprasath B (7376242AD131) • Bannari Amman Institute of Technology (BIT)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