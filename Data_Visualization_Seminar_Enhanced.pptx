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seminar on Data Visualization presented by Guru Prakash A, Reg No: 25322011, II MCA.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1097280"/>
            <a:ext cx="38404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SEMINAR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Subject: Essential of Data Science
Topic: Data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432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Presented By:
Guru Prakash A
Reg No: 25322011
Class: II MCA
Dept of Computer Science &amp;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DATA SCIENCE SEMINAR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172A"/>
                </a:solidFill>
                <a:latin typeface="Calibri Light"/>
              </a:rPr>
              <a:t>Mastering Advanced
Data Visualization
in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 Light"/>
              </a:rPr>
              <a:t>Three-Dimensional Plotting  •  Geographic Data with Basemap  •  Visualization with Seaborn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029200"/>
            <a:ext cx="2103120" cy="73152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C3AED"/>
                </a:solidFill>
                <a:latin typeface="Calibri"/>
              </a:rPr>
              <a:t>Topic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218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Calibri Light"/>
              </a:rPr>
              <a:t>3D Plotting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5029200"/>
            <a:ext cx="2103120" cy="731520"/>
          </a:xfrm>
          <a:prstGeom prst="rect">
            <a:avLst/>
          </a:prstGeom>
          <a:solidFill>
            <a:srgbClr val="F0FDFA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50474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9488"/>
                </a:solidFill>
                <a:latin typeface="Calibri"/>
              </a:rPr>
              <a:t>Topic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53218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  <a:latin typeface="Calibri Light"/>
              </a:rPr>
              <a:t>Basemap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5029200"/>
            <a:ext cx="2103120" cy="731520"/>
          </a:xfrm>
          <a:prstGeom prst="rect">
            <a:avLst/>
          </a:prstGeom>
          <a:solidFill>
            <a:srgbClr val="FFF1F2"/>
          </a:solidFill>
          <a:ln w="9525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50474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11D48"/>
                </a:solidFill>
                <a:latin typeface="Calibri"/>
              </a:rPr>
              <a:t>Topic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53218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11D48"/>
                </a:solidFill>
                <a:latin typeface="Calibri Light"/>
              </a:rPr>
              <a:t>Seaborn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01 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 Light"/>
              </a:rP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411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88136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4864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 Ligh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3619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Cover &amp;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5361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Slide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67128"/>
            <a:ext cx="1088136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167128"/>
            <a:ext cx="54864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042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 Ligh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31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Datasets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3317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Slides 3–4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62656"/>
            <a:ext cx="1088136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962656"/>
            <a:ext cx="54864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9981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 Ligh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12724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Three-Dimensional Plotting in Matplotlib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1272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Slides 5–14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58183"/>
            <a:ext cx="1088136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58183"/>
            <a:ext cx="54864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895343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Calibri Light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22775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Geographic Data with Basemap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92277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Slides 15–22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53712"/>
            <a:ext cx="1088136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553712"/>
            <a:ext cx="54864" cy="65836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69087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1D48"/>
                </a:solidFill>
                <a:latin typeface="Calibri Light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71830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Visualization with Seaborn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7183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Slides 23–33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49240"/>
            <a:ext cx="1088136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349240"/>
            <a:ext cx="54864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48640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 Light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5138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Seaborn vs Matplotlib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55138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Slides 34–35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02 / 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Data Visualization Seminar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 Light"/>
              </a:rPr>
              <a:t>Datasets Used in This Seminar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 Light"/>
              </a:rPr>
              <a:t>Three real-world benchmark datasets are used across all visualizations: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657600" cy="45720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6576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05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 Light"/>
              </a:rPr>
              <a:t>🌸 Iris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677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150 rows × 5 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517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sepal_length, sepal_width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9923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petal_length, petal_width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34670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species (setosa/versicolor/virginica)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941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Source: R.A. Fisher, 1936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0416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Used in: Seaborn pairplots, 3D scatter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691640"/>
            <a:ext cx="3657600" cy="457200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691640"/>
            <a:ext cx="36576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105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 Light"/>
              </a:rPr>
              <a:t>🍽️ Tips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2677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244 rows × 7 columns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6517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total_bill, tip, sex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99923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smoker (Yes/No),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4670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time (Lunch/Dinner)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36941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size (party size)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40416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Used in: Seaborn catplot, lmplot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1691640"/>
            <a:ext cx="3657600" cy="4572000"/>
          </a:xfrm>
          <a:prstGeom prst="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1691640"/>
            <a:ext cx="36576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18105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1D48"/>
                </a:solidFill>
                <a:latin typeface="Calibri Light"/>
              </a:rPr>
              <a:t>✈️ Flights 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22677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144 rows × 3 columns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6517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year (1949–1960)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299923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month (Jan–Dec)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334670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passengers (count)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36941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Used in: Seaborn heatmap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40416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▸  Used in: 3D surface plot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03 / 35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Datasets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 Light"/>
              </a:rPr>
              <a:t>Dataset Sample Values (First 5 Rows)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🌸 Iris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515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sepal_length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600200"/>
            <a:ext cx="10515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64592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sepal_width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600200"/>
            <a:ext cx="10515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64592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petal_length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1600200"/>
            <a:ext cx="10515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64592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petal_width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600200"/>
            <a:ext cx="10515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64592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species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892808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929384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5.1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1892808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1929384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1892808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1929384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1.4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1892808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1929384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0.2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1892808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929384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setosa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185416"/>
            <a:ext cx="1051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221992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4.9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2185416"/>
            <a:ext cx="1051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0" y="2221992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2185416"/>
            <a:ext cx="1051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88920" y="2221992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1.4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94760" y="2185416"/>
            <a:ext cx="1051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2221992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0.2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185416"/>
            <a:ext cx="1051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2221992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setosa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2478024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251460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4.7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91640" y="2478024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37360" y="251460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3.2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478024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251460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1.3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94760" y="2478024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0" y="251460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0.2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2478024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92040" y="251460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setosa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2770632"/>
            <a:ext cx="1051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280720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4.6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1640" y="2770632"/>
            <a:ext cx="1051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37360" y="280720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3.1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2770632"/>
            <a:ext cx="1051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88920" y="280720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1.5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94760" y="2770632"/>
            <a:ext cx="1051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40480" y="280720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0.2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2770632"/>
            <a:ext cx="1051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92040" y="280720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setosa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3063240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309981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5.0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91640" y="3063240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37360" y="309981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3.6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0" y="3063240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88920" y="309981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1.4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94760" y="3063240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40480" y="309981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0.2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6320" y="3063240"/>
            <a:ext cx="105156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92040" y="309981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setosa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🍽️ Tips Dataset (sample)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1600200"/>
            <a:ext cx="749808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37376" y="164592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total_bill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50608" y="1600200"/>
            <a:ext cx="749808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87184" y="164592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00416" y="1600200"/>
            <a:ext cx="749808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36992" y="164592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50224" y="1600200"/>
            <a:ext cx="749808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86800" y="164592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smoker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00032" y="1600200"/>
            <a:ext cx="749808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36608" y="164592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day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9840" y="1600200"/>
            <a:ext cx="749808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86416" y="164592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899648" y="1600200"/>
            <a:ext cx="749808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936224" y="164592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0" y="1892808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37376" y="1929384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16.99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50608" y="1892808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87184" y="1929384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1.01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00416" y="1892808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36992" y="1929384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Female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650224" y="1892808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686800" y="1929384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No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400032" y="1892808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436608" y="1929384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Sun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149840" y="1892808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186416" y="1929384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Dinner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899648" y="1892808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936224" y="1929384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00800" y="2185416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37376" y="2221992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10.34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50608" y="2185416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187184" y="2221992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1.66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00416" y="2185416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36992" y="2221992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Male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50224" y="2185416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86800" y="2221992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No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400032" y="2185416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436608" y="2221992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Sun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149840" y="2185416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186416" y="2221992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Dinner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899648" y="2185416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936224" y="2221992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400800" y="2478024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37376" y="2514600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21.01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150608" y="2478024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187184" y="2514600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3.50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900416" y="2478024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936992" y="2514600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Male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650224" y="2478024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686800" y="2514600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No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400032" y="2478024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436608" y="2514600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Sun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149840" y="2478024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186416" y="2514600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Dinner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899648" y="2478024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936224" y="2514600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400800" y="2770632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37376" y="2807208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23.68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150608" y="2770632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187184" y="2807208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3.31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900416" y="2770632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936992" y="2807208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Male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50224" y="2770632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86800" y="2807208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No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400032" y="2770632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436608" y="2807208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Sun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149840" y="2770632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186416" y="2807208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Dinner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899648" y="2770632"/>
            <a:ext cx="74980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936224" y="2807208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400800" y="3063240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37376" y="3099816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24.59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150608" y="3063240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187184" y="3099816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3.61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900416" y="3063240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936992" y="3099816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Female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650224" y="3063240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686800" y="3099816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No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400032" y="3063240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436608" y="3099816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Sun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149840" y="3063240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186416" y="3099816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Dinner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899648" y="3063240"/>
            <a:ext cx="749808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936224" y="3099816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48"/>
                </a:solidFill>
                <a:latin typeface="Calibri"/>
              </a:rPr>
              <a:t>✈️ Flights Dataset (sample)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40080" y="4709160"/>
            <a:ext cx="1371600" cy="3200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85800" y="4754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011680" y="4709160"/>
            <a:ext cx="1371600" cy="3200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057400" y="4754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month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383280" y="4709160"/>
            <a:ext cx="1371600" cy="3200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429000" y="4754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passengers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40080" y="5001768"/>
            <a:ext cx="137160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85800" y="503834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1949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011680" y="5001768"/>
            <a:ext cx="137160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057400" y="503834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January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383280" y="5001768"/>
            <a:ext cx="137160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429000" y="503834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112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0080" y="5294376"/>
            <a:ext cx="13716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85800" y="53309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1949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011680" y="5294376"/>
            <a:ext cx="13716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057400" y="53309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February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383280" y="5294376"/>
            <a:ext cx="13716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429000" y="53309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118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40080" y="5586984"/>
            <a:ext cx="137160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85800" y="56235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1949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011680" y="5586984"/>
            <a:ext cx="137160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2057400" y="56235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March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383280" y="5586984"/>
            <a:ext cx="137160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429000" y="56235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132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40080" y="5879592"/>
            <a:ext cx="13716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85800" y="59161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1949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011680" y="5879592"/>
            <a:ext cx="13716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2057400" y="59161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April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383280" y="5879592"/>
            <a:ext cx="13716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429000" y="59161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129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40080" y="6172200"/>
            <a:ext cx="137160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85800" y="620877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1949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011680" y="6172200"/>
            <a:ext cx="137160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057400" y="620877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May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3383280" y="6172200"/>
            <a:ext cx="137160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429000" y="620877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72A"/>
                </a:solidFill>
                <a:latin typeface="Calibri"/>
              </a:rPr>
              <a:t>121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04 / 35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  <a:latin typeface="Calibri"/>
              </a:rPr>
              <a:t>Dataset Samples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 Light"/>
              </a:rPr>
              <a:t>mpl_toolkits.mplot3d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 Light"/>
              </a:rPr>
              <a:t>Three-Dimensional
Plotting in Matplotlib</a:t>
            </a:r>
          </a:p>
        </p:txBody>
      </p:sp>
      <p:sp>
        <p:nvSpPr>
          <p:cNvPr id="7" name="Oval 6"/>
          <p:cNvSpPr/>
          <p:nvPr/>
        </p:nvSpPr>
        <p:spPr>
          <a:xfrm>
            <a:off x="8778240" y="548640"/>
            <a:ext cx="1645920" cy="1645920"/>
          </a:xfrm>
          <a:prstGeom prst="ellipse">
            <a:avLst/>
          </a:prstGeom>
          <a:ln>
            <a:noFill/>
          </a:ln>
          <a:solidFill>
            <a:srgbClr val="FFFFFF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46920" y="2697480"/>
            <a:ext cx="2286000" cy="2286000"/>
          </a:xfrm>
          <a:prstGeom prst="ellipse">
            <a:avLst/>
          </a:prstGeom>
          <a:ln>
            <a:noFill/>
          </a:ln>
          <a:solidFill>
            <a:srgbClr val="FFFFFF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0" y="4754880"/>
            <a:ext cx="1097280" cy="1097280"/>
          </a:xfrm>
          <a:prstGeom prst="ellipse">
            <a:avLst/>
          </a:prstGeom>
          <a:ln>
            <a:noFill/>
          </a:ln>
          <a:solidFill>
            <a:srgbClr val="FFFFFF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05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3D Axes &amp; Coordinate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3.1 — mpl_toolkits.mplot3d projection registration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029200" cy="384048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64008" cy="3840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 Light"/>
              </a:rPr>
              <a:t>Core Definitions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mplot3d: Standard Matplotlib 3D toolkit (no pip install needed)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Registers 3D projection axes via fig.add_subplot(projection='3d')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638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Maps (x, y, z) data triples through rotation matrices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Supports elevation (elev) and azimuth (azim) camera angles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ax.set_xlabel / ylabel / zlabel for 3-axis labels</a:t>
            </a:r>
          </a:p>
        </p:txBody>
      </p:sp>
      <p:pic>
        <p:nvPicPr>
          <p:cNvPr id="15" name="Picture 14" descr="3d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389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06 / 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Topic 01 · 3D Plotting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3D Helix — Scatter &amp; Line Plot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3.2 — ax.plot3D() and ax.scatter3D() with trigonometric spiral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03520" cy="4023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29200" cy="3803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F3FC"/>
                </a:solidFill>
                <a:latin typeface="Courier New"/>
              </a:rPr>
              <a:t>import numpy as np
import matplotlib.pyplot as plt
theta = np.linspace(-4*np.pi, 4*np.pi, 150)
z = np.linspace(-2, 2, 150)
r = z**2 + 1
x = r * np.sin(theta)
y = r * np.cos(theta)
ax = plt.axes(projection='3d')
ax.plot3D(x, y, z, 'grey')          # line
ax.scatter3D(x, y, z, c=z,         # scatter
             cmap='Blues')
plt.show()</a:t>
            </a:r>
          </a:p>
        </p:txBody>
      </p:sp>
      <p:pic>
        <p:nvPicPr>
          <p:cNvPr id="9" name="Picture 8" descr="3d_hel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07 /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Topic 01 · 3D Plotting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3D Contour Plots (contour3D / contourf3D)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3.3 — Sinusoidal surface projection with filled contours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029200" cy="320040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64008" cy="320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 Light"/>
              </a:rPr>
              <a:t>Key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ax.contour3D() — Wireframe-style contour levels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ax.contourf3D() — Filled smooth gradient contours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638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Z = f(X,Y) — Must be a meshgrid-shaped 2D 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cmap param: 'viridis', 'plasma', 'coolwarm'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levels=40 controls number of contour bands</a:t>
            </a:r>
          </a:p>
        </p:txBody>
      </p:sp>
      <p:pic>
        <p:nvPicPr>
          <p:cNvPr id="15" name="Picture 14" descr="3d_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760720" cy="457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08 / 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Topic 01 · 3D Plotting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Wireframe &amp; Surface Plots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3.4 — plot_wireframe() and plot_surface() with colormaps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03520" cy="3657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2920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F3FC"/>
                </a:solidFill>
                <a:latin typeface="Courier New"/>
              </a:rPr>
              <a:t>X = np.arange(-5, 5, 0.25)
Y = np.arange(-5, 5, 0.25)
X, Y = np.meshgrid(X, Y)
R = np.sqrt(X**2 + Y**2)
Z = np.sin(R)
# Wireframe
ax.plot_wireframe(X, Y, Z, color='black')
# Surface
ax.plot_surface(X, Y, Z, rstride=1, cstride=1,
                cmap='viridis', edgecolor='none')</a:t>
            </a:r>
          </a:p>
        </p:txBody>
      </p:sp>
      <p:pic>
        <p:nvPicPr>
          <p:cNvPr id="9" name="Picture 8" descr="3d_wireframe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09 /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Topic 01 · 3D Plotting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Camera Angle Control — view_init()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3.5 — Elevation and Azimuth for perspective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029200" cy="384048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64008" cy="3840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 Light"/>
              </a:rPr>
              <a:t>view_init()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ax.view_init(elev=30, azim=60)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elev: degrees above xy-plane (0° = flat, 90° = top-down)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638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azim: horizontal rotation angle (0°–360°)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Useful for creating animated GIFs by looping azim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Can be called in a loop for rotation animations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Default: elev=30, azim=-60 in most 3D plots</a:t>
            </a:r>
          </a:p>
        </p:txBody>
      </p:sp>
      <p:pic>
        <p:nvPicPr>
          <p:cNvPr id="16" name="Picture 15" descr="3d_view_i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760720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10 / 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Topic 01 · 3D Plotting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3D Bar Charts — bar3d()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3.6 — Plotting categorical frequency data in 3D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03520" cy="4023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29200" cy="3803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F3FC"/>
                </a:solidFill>
                <a:latin typeface="Courier New"/>
              </a:rPr>
              <a:t>fig = plt.figure()
ax = fig.add_subplot(111, projection='3d')
x = [1, 2, 3, 1, 2, 3]
y = [1, 1, 1, 2, 2, 2]
z = [0, 0, 0, 0, 0, 0]
dx = dy = [0.5]*6
dz = [20, 35, 15, 10, 25, 30]
ax.bar3d(x, y, z, dx, dy, dz,
         color='royalblue', alpha=0.7)
ax.set_xlabel('X'); ax.set_ylabel('Y')
ax.set_zlabel('Z')
plt.show()</a:t>
            </a:r>
          </a:p>
        </p:txBody>
      </p:sp>
      <p:pic>
        <p:nvPicPr>
          <p:cNvPr id="9" name="Picture 8" descr="3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11 /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Topic 01 · 3D Plotting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3D Triangulated Surface — plot_trisurf()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3.7 — Unstructured point-cloud surface rendering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029200" cy="365760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64008" cy="3657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 Light"/>
              </a:rPr>
              <a:t>Triangulation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plot_trisurf() — renders surface from scattered (x, y, z)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Internally applies Delaunay triangulation 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638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Ideal for non-uniform / irregular grid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cmap controls color gradient along Z-axis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linewidth=0.2 adds subtle triangle edge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antialiased=False improves performance on large datasets</a:t>
            </a:r>
          </a:p>
        </p:txBody>
      </p:sp>
      <p:pic>
        <p:nvPicPr>
          <p:cNvPr id="16" name="Picture 15" descr="3d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760720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12 / 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Topic 01 · 3D Plotting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3D Iris Species Scatter Plot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3.8 — Dataset: Iris (150 rows) — 3 species in 3D feature 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03520" cy="4114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2920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F3FC"/>
                </a:solidFill>
                <a:latin typeface="Courier New"/>
              </a:rPr>
              <a:t>from mpl_toolkits.mplot3d import Axes3D
import seaborn as sns
iris = sns.load_dataset('iris')
fig = plt.figure(figsize=(10, 7))
ax = fig.add_subplot(111, projection='3d')
species = iris['species'].unique()
colors = ['#4f46e5', '#0d9488', '#e11d48']
for sp, col in zip(species, colors):
    df = iris[iris['species'] == sp]
    ax.scatter(df['sepal_length'],
               df['petal_length'],
               df['petal_width'],
               c=col, label=sp, s=40)
ax.legend()
plt.show()</a:t>
            </a:r>
          </a:p>
        </p:txBody>
      </p:sp>
      <p:pic>
        <p:nvPicPr>
          <p:cNvPr id="9" name="Picture 8" descr="3d_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13 /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Topic 01 · 3D Plotting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3D Surface — Flights Passenger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Dataset: Flights (144 rows) — Year × Month passenger heatmap in 3D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03520" cy="4114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2920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F3FC"/>
                </a:solidFill>
                <a:latin typeface="Courier New"/>
              </a:rPr>
              <a:t>flights = sns.load_dataset('flights')
pivot = flights.pivot('month','year','passengers')
X = np.arange(len(pivot.columns))
Y = np.arange(len(pivot.index))
X, Y = np.meshgrid(X, Y)
Z = pivot.values
ax = plt.axes(projection='3d')
ax.plot_surface(X, Y, Z,
                cmap='plasma',
                edgecolor='none')
ax.set_xlabel('Year')
ax.set_ylabel('Month')
ax.set_zlabel('Passengers')
plt.show()</a:t>
            </a:r>
          </a:p>
        </p:txBody>
      </p:sp>
      <p:pic>
        <p:nvPicPr>
          <p:cNvPr id="9" name="Picture 8" descr="3d_flights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14 /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Topic 01 · 3D Plotting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 Light"/>
              </a:rPr>
              <a:t>mpl_toolkits.basemap / Cartopy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 Light"/>
              </a:rPr>
              <a:t>Geographic Data
with Basemap</a:t>
            </a:r>
          </a:p>
        </p:txBody>
      </p:sp>
      <p:sp>
        <p:nvSpPr>
          <p:cNvPr id="7" name="Oval 6"/>
          <p:cNvSpPr/>
          <p:nvPr/>
        </p:nvSpPr>
        <p:spPr>
          <a:xfrm>
            <a:off x="8778240" y="548640"/>
            <a:ext cx="1645920" cy="1645920"/>
          </a:xfrm>
          <a:prstGeom prst="ellipse">
            <a:avLst/>
          </a:prstGeom>
          <a:ln>
            <a:noFill/>
          </a:ln>
          <a:solidFill>
            <a:srgbClr val="FFFFFF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46920" y="2697480"/>
            <a:ext cx="2286000" cy="2286000"/>
          </a:xfrm>
          <a:prstGeom prst="ellipse">
            <a:avLst/>
          </a:prstGeom>
          <a:ln>
            <a:noFill/>
          </a:ln>
          <a:solidFill>
            <a:srgbClr val="FFFFFF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0" y="4754880"/>
            <a:ext cx="1097280" cy="1097280"/>
          </a:xfrm>
          <a:prstGeom prst="ellipse">
            <a:avLst/>
          </a:prstGeom>
          <a:ln>
            <a:noFill/>
          </a:ln>
          <a:solidFill>
            <a:srgbClr val="FFFFFF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What is Basemap?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4.1 — Geographic projections and map overlay for 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64008" cy="4114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 Light"/>
              </a:rPr>
              <a:t>Definition &amp;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Basemap is a Matplotlib toolkit for geographic 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Supports 25+ map projections (Mercator, Orthographic, Mollweide...)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638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Draws coastlines, country borders, rivers, parallels, meridians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Can overlay data points, filled regions, and contour 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Installation: pip install basemap basemap-data-hires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Modern Alternative: Cartopy (actively maintained by Met Office)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▸ mill / Millerd Cylindrical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88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▸ ortho / Orthographic Globe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▸ moll / Mollweide Equal-Area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794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▸ lcc / Lambert Conformal Conic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Calibri"/>
              </a:rPr>
              <a:t>▸ merc / Mercator (Web Standard)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16 / 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Topic 02 · Basemap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Basemap Installation &amp;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4.2 — Google Colab environment setup commands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4297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10698480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F3FC"/>
                </a:solidFill>
                <a:latin typeface="Courier New"/>
              </a:rPr>
              <a:t># Google Colab setup
!apt-get install -y libgeos-dev
!pip install basemap basemap-data-hires
from mpl_toolkits.basemap import Basemap
import matplotlib.pyplot as plt
import numpy as np
# Create a basic world map
fig = plt.figure(figsize=(12, 8))
m = Basemap(projection='mill',
            llcrnrlat=-90, urcrnrlat=90,
            llcrnrlon=-180, urcrnrlon=180,
            resolution='c')
m.drawcoastlines()
m.drawcountries()
m.drawmapboundary(fill_color='aqua')
m.fillcontinents(color='coral',
                  lake_color='aqua')
m.drawparallels(np.arange(-90,90,30))
m.drawmeridians(np.arange(-180,180,60))
plt.title('World Map - Miller Cylindrical')
plt.show()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17 /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Topic 02 · Basemap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World Cities Population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4.3 — Plotting city coordinates with population-scaled markers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029200" cy="347472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64008" cy="3474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 Light"/>
              </a:rPr>
              <a:t>Cities Dataset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Latitude, Longitude coordinates for 20+ major cities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Population data (2020 estimates in millions)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638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m(lon, lat) → converts geographic to projected coords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plt.scatter(x, y, s=pop*10) → size ∝ population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plt.annotate() adds city name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Orthographic projection gives globe 3D effect</a:t>
            </a:r>
          </a:p>
        </p:txBody>
      </p:sp>
      <p:pic>
        <p:nvPicPr>
          <p:cNvPr id="16" name="Picture 15" descr="basemap_c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760720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18 / 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Topic 02 · Basemap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Great Circle Flight Routes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4.4 — Shortest-path arcs on spherical Earth surface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03520" cy="4114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2920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F3FC"/>
                </a:solidFill>
                <a:latin typeface="Courier New"/>
              </a:rPr>
              <a:t>m = Basemap(projection='robin',
            lon_0=0, resolution='c')
m.drawcoastlines(linewidth=0.5)
m.fillcontinents(color='lightgray')
m.drawmapboundary(fill_color='#d0e8f8')
# Great Circle: NYC → London
m.drawgreatcircle(-74.0, 40.7,   # New York
                  -0.12, 51.5,   # London
                  linewidth=2, color='red',
                  label='NYC → LON')
# NYC → Tokyo
m.drawgreatcircle(-74.0, 40.7,
                  139.7, 35.7,
                  linewidth=2, color='blue',
                  label='NYC → TYO')
plt.legend()
plt.show()</a:t>
            </a:r>
          </a:p>
        </p:txBody>
      </p:sp>
      <p:pic>
        <p:nvPicPr>
          <p:cNvPr id="9" name="Picture 8" descr="basemap_greatcir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19 /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Topic 02 · Basemap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Map Projections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4.5 — Tradeoffs between area, shape, and distance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74980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4864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Mercator (merc)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 Light"/>
              </a:rPr>
              <a:t>Preserves angles/shapes. Area distortion near poles.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1097280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54864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Orthographic (ortho)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718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 Light"/>
              </a:rPr>
              <a:t>Globe perspective view. Cannot show full sphere.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10972800" cy="74980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49039"/>
            <a:ext cx="54864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404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Mollweide (moll)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840479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 Light"/>
              </a:rPr>
              <a:t>Equal-area. Distorts shapes but preserves areas.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17720"/>
            <a:ext cx="1097280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617720"/>
            <a:ext cx="54864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Robinson (robin)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7091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 Light"/>
              </a:rPr>
              <a:t>Compromise — moderate area and shape distortion.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486400"/>
            <a:ext cx="10972800" cy="749808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486400"/>
            <a:ext cx="54864" cy="7498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11D48"/>
                </a:solidFill>
                <a:latin typeface="Calibri"/>
              </a:rPr>
              <a:t>Lambert Conformal (lcc)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5778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 Light"/>
              </a:rPr>
              <a:t>Used for regional maps. Preserves shape locally.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20 / 35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Topic 02 · Basemap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Cartopy — Modern Basemap Alternative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4.6 — Actively maintained library from the UK Met Office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486400" cy="4114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21208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F3FC"/>
                </a:solidFill>
                <a:latin typeface="Courier New"/>
              </a:rPr>
              <a:t>import cartopy.crs as ccrs
import cartopy.feature as cfeature
import matplotlib.pyplot as plt
fig = plt.figure(figsize=(12, 6))
ax = fig.add_subplot(1, 1, 1,
     projection=ccrs.PlateCarree())
ax.add_feature(cfeature.COASTLINE)
ax.add_feature(cfeature.BORDERS,
               linestyle=':')
ax.add_feature(cfeature.OCEAN,
               facecolor='lightblue')
ax.add_feature(cfeature.LAND,
               facecolor='wheat')
ax.set_global()
ax.gridlines()
plt.title('World Map with Cartopy')
plt.show()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011680"/>
            <a:ext cx="201168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665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2011680"/>
            <a:ext cx="16459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0665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Basemap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2011680"/>
            <a:ext cx="16459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7000" y="20665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Cartopy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468880"/>
            <a:ext cx="2011680" cy="45720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560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2468880"/>
            <a:ext cx="1645920" cy="45720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560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Deprecated (2020+)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0" y="2468880"/>
            <a:ext cx="1645920" cy="45720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2560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Actively Maintained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926080"/>
            <a:ext cx="201168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017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Backend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2926080"/>
            <a:ext cx="164592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mpl_toolkits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0" y="2926080"/>
            <a:ext cx="164592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Shapely + Proj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383280"/>
            <a:ext cx="2011680" cy="45720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474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CRS Support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3383280"/>
            <a:ext cx="1645920" cy="45720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474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25 projections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3383280"/>
            <a:ext cx="1645920" cy="457200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3474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Full EPSG registry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840480"/>
            <a:ext cx="201168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931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OGC Services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3840480"/>
            <a:ext cx="164592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3931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41280" y="3840480"/>
            <a:ext cx="164592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87000" y="3931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Yes (WMS/WFS)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21 / 35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Topic 02 · Basemap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Basemap Topic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Key takeaways from Geographic Data visualization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54864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 Light"/>
              </a:rPr>
              <a:t>🗺️ Projections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6771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 Light"/>
              </a:rPr>
              <a:t>25+ projections available; each has tradeoffs between area, shape, and distance preservation.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54679"/>
            <a:ext cx="109728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154679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6440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 Light"/>
              </a:rPr>
              <a:t>📍 Data Overlay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19271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 Light"/>
              </a:rPr>
              <a:t>Convert lat/lon to projected (x,y) using m(lon, lat) before plotting.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206240"/>
            <a:ext cx="54864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15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 Light"/>
              </a:rPr>
              <a:t>✈️ Great Circles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3708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 Light"/>
              </a:rPr>
              <a:t>drawgreatcircle() plots geodesic shortest paths on the spherical surface.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57800"/>
            <a:ext cx="109728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257800"/>
            <a:ext cx="54864" cy="914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675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48"/>
                </a:solidFill>
                <a:latin typeface="Calibri Light"/>
              </a:rPr>
              <a:t>🌍 Cartopy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4223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 Light"/>
              </a:rPr>
              <a:t>Use Cartopy for modern projects — better OGC support and active maintenance.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22 / 35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  <a:latin typeface="Calibri"/>
              </a:rPr>
              <a:t>Topic 02 · Basemap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Calibri Light"/>
              </a:rPr>
              <a:t>Statistical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 Light"/>
              </a:rPr>
              <a:t>Visualization with
Seaborn</a:t>
            </a:r>
          </a:p>
        </p:txBody>
      </p:sp>
      <p:sp>
        <p:nvSpPr>
          <p:cNvPr id="7" name="Oval 6"/>
          <p:cNvSpPr/>
          <p:nvPr/>
        </p:nvSpPr>
        <p:spPr>
          <a:xfrm>
            <a:off x="8778240" y="548640"/>
            <a:ext cx="1645920" cy="1645920"/>
          </a:xfrm>
          <a:prstGeom prst="ellipse">
            <a:avLst/>
          </a:prstGeom>
          <a:ln>
            <a:noFill/>
          </a:ln>
          <a:solidFill>
            <a:srgbClr val="FFFFFF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46920" y="2697480"/>
            <a:ext cx="2286000" cy="2286000"/>
          </a:xfrm>
          <a:prstGeom prst="ellipse">
            <a:avLst/>
          </a:prstGeom>
          <a:ln>
            <a:noFill/>
          </a:ln>
          <a:solidFill>
            <a:srgbClr val="FFFFFF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0" y="4754880"/>
            <a:ext cx="1097280" cy="1097280"/>
          </a:xfrm>
          <a:prstGeom prst="ellipse">
            <a:avLst/>
          </a:prstGeom>
          <a:ln>
            <a:noFill/>
          </a:ln>
          <a:solidFill>
            <a:srgbClr val="FFFFFF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What is Seaborn?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5.1 — High-level statistical data visualization built on Matplotlib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64008" cy="4114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 Light"/>
              </a:rPr>
              <a:t>Core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Built on top of Matplotlib; uses Axes internally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Native Pandas DataFrame integration (x='col', hue='group')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638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Automatic KDE, regression lines, and confidence intervals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Beautiful default color palettes (muted, deep, pastel...)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Grid-level plots: FacetGrid, PairGrid for multi-panel figures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Functions: histplot, kdeplot, scatterplot, jointplot, pairplot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11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48"/>
                </a:solidFill>
                <a:latin typeface="Calibri Light"/>
              </a:rPr>
              <a:t>sns.histplot() vs plt.hist()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14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Matplotlib (manual KDE):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07208"/>
            <a:ext cx="54864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916936"/>
            <a:ext cx="52120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F3FC"/>
                </a:solidFill>
                <a:latin typeface="Courier New"/>
              </a:rPr>
              <a:t>plt.hist(data, bins=30, density=True)
from scipy.stats import gaussian_kde
kde = gaussian_kde(data)
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794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Seaborn (one line!):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087368"/>
            <a:ext cx="54864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197096"/>
            <a:ext cx="52120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F3FC"/>
                </a:solidFill>
                <a:latin typeface="Courier New"/>
              </a:rPr>
              <a:t>sns.histplot(data, kde=True, bins=30)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24 / 35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11D48"/>
                </a:solidFill>
                <a:latin typeface="Calibri"/>
              </a:rPr>
              <a:t>Topic 03 · Seaborn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histplot &amp; kdeplot — Distributions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5.2 — Dataset: Tips (244 rows) — total_bill 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03520" cy="4114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2920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F3FC"/>
                </a:solidFill>
                <a:latin typeface="Courier New"/>
              </a:rPr>
              <a:t>import seaborn as sns
import matplotlib.pyplot as plt
tips = sns.load_dataset('tips')
# Histogram with KDE overlay
fig, axes = plt.subplots(1, 2,
                          figsize=(12, 5))
# histplot with KDE
sns.histplot(data=tips, x='total_bill',
             kde=True, bins=30,
             color='#e11d48',
             ax=axes[0])
axes[0].set_title('Histogram + KDE')
# Pure KDE plot
sns.kdeplot(data=tips, x='total_bill',
            hue='sex', fill=True,
            ax=axes[1])
axes[1].set_title('KDE by Sex')
plt.tight_layout()
plt.show()</a:t>
            </a:r>
          </a:p>
        </p:txBody>
      </p:sp>
      <p:pic>
        <p:nvPicPr>
          <p:cNvPr id="9" name="Picture 8" descr="seaborn_histplot_k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25 /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11D48"/>
                </a:solidFill>
                <a:latin typeface="Calibri"/>
              </a:rPr>
              <a:t>Topic 03 · Seaborn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jointplot — Bivariate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5.3 — Dataset: Tips — total_bill vs tip with marginal plots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029200" cy="3657600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64008" cy="3657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 Light"/>
              </a:rPr>
              <a:t>jointplot()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kind='scatter' — default scatter with marginal histograms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kind='kde' — kernel density contours + marginal KDE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638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kind='hex' — hexbin density heatmap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kind='reg' — regression line with confidence band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kind='resid' — regression residuals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hue='col' — color-codes by category (adds legend)</a:t>
            </a:r>
          </a:p>
        </p:txBody>
      </p:sp>
      <p:pic>
        <p:nvPicPr>
          <p:cNvPr id="16" name="Picture 15" descr="seaborn_join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760720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26 / 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11D48"/>
                </a:solidFill>
                <a:latin typeface="Calibri"/>
              </a:rPr>
              <a:t>Topic 03 · Seaborn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pairplot — Multi-Variable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5.4 — Dataset: Iris (150 rows) — 4×4 feature relationship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03520" cy="4114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2920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F3FC"/>
                </a:solidFill>
                <a:latin typeface="Courier New"/>
              </a:rPr>
              <a:t>iris = sns.load_dataset('iris')
sns.pairplot(iris,
             hue='species',
             diag_kind='kde',
             plot_kws={'alpha': 0.6},
             palette='tab10')
plt.suptitle('Iris Pairplot Matrix',
              y=1.02)
plt.show()
# Custom pairplot
g = sns.PairGrid(iris,
                  hue='species')
g.map_upper(sns.scatterplot)
g.map_lower(sns.kdeplot)
g.map_diag(sns.histplot)
g.add_legend()</a:t>
            </a:r>
          </a:p>
        </p:txBody>
      </p:sp>
      <p:pic>
        <p:nvPicPr>
          <p:cNvPr id="9" name="Picture 8" descr="seaborn_pai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27 /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11D48"/>
                </a:solidFill>
                <a:latin typeface="Calibri"/>
              </a:rPr>
              <a:t>Topic 03 · Seaborn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catplot — Categorical Distributions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5.5 — Dataset: Tips — tip by day and sex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029200" cy="3840480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64008" cy="38404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 Light"/>
              </a:rPr>
              <a:t>catplot() kind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kind='strip' — individual data points (default)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kind='swarm' — non-overlapping strip plot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638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kind='box' — box-and-whisker with quartiles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kind='violin' — KDE of distribution shape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kind='bar' — aggregated bar with 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kind='point' — mean with error bars</a:t>
            </a:r>
          </a:p>
        </p:txBody>
      </p:sp>
      <p:pic>
        <p:nvPicPr>
          <p:cNvPr id="16" name="Picture 15" descr="seaborn_ca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760720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28 / 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11D48"/>
                </a:solidFill>
                <a:latin typeface="Calibri"/>
              </a:rPr>
              <a:t>Topic 03 · Seaborn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Heatmap — Flights Passenger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5.6 — Dataset: Flights (144 rows) — year vs month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03520" cy="4114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2920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F3FC"/>
                </a:solidFill>
                <a:latin typeface="Courier New"/>
              </a:rPr>
              <a:t>flights = sns.load_dataset('flights')
# Pivot to matrix format
pivot = flights.pivot(
    index='month',
    columns='year',
    values='passengers'
)
plt.figure(figsize=(12, 7))
sns.heatmap(
    pivot,
    annot=True,        # show numbers
    fmt='d',           # integer format
    cmap='YlOrRd',     # Yellow-Orange-Red
    linewidths=0.5,    # cell borders
    linecolor='white'
)
plt.title('Monthly Airline Passengers (1949-1960)')
plt.tight_layout()
plt.show()</a:t>
            </a:r>
          </a:p>
        </p:txBody>
      </p:sp>
      <p:pic>
        <p:nvPicPr>
          <p:cNvPr id="9" name="Picture 8" descr="seabor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29 /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11D48"/>
                </a:solidFill>
                <a:latin typeface="Calibri"/>
              </a:rPr>
              <a:t>Topic 03 · Seaborn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lmplot — Linear Regression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5.7 — Dataset: Tips — linear trend of total_bill vs tip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029200" cy="3657600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64008" cy="3657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 Light"/>
              </a:rPr>
              <a:t>lmplot() Key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x, y — column names from DataFrame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hue='col' — separate lines per category with colors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638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col='col' — create facet columns per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row='col' — create facet rows per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order=2 — polynomial regression (quadratic)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ci=95 — 95% confidence interval shading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342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• scatter_kws={'alpha': 0.5} — control point transparency</a:t>
            </a:r>
          </a:p>
        </p:txBody>
      </p:sp>
      <p:pic>
        <p:nvPicPr>
          <p:cNvPr id="17" name="Picture 16" descr="seaborn_lm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760720" cy="457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30 / 35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11D48"/>
                </a:solidFill>
                <a:latin typeface="Calibri"/>
              </a:rPr>
              <a:t>Topic 03 · Seaborn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Seaborn Color Palettes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5.8 — Categorical, sequential, and diverging palettes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48"/>
                </a:solidFill>
                <a:latin typeface="Calibri Light"/>
              </a:rPr>
              <a:t>Categorical Palettes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11D48"/>
                </a:solidFill>
                <a:latin typeface="Calibri"/>
              </a:rPr>
              <a:t>deep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42316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11D48"/>
                </a:solidFill>
                <a:latin typeface="Calibri"/>
              </a:rPr>
              <a:t>muted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42316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11D48"/>
                </a:solidFill>
                <a:latin typeface="Calibri"/>
              </a:rPr>
              <a:t>pastel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42316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11D48"/>
                </a:solidFill>
                <a:latin typeface="Calibri"/>
              </a:rPr>
              <a:t>bright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42316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11D48"/>
                </a:solidFill>
                <a:latin typeface="Calibri"/>
              </a:rPr>
              <a:t>dark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242316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11D48"/>
                </a:solidFill>
                <a:latin typeface="Calibri"/>
              </a:rPr>
              <a:t>colorblind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 Light"/>
              </a:rPr>
              <a:t>Sequential Palettes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4048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  <a:latin typeface="Calibri"/>
              </a:rPr>
              <a:t>Blues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384048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  <a:latin typeface="Calibri"/>
              </a:rPr>
              <a:t>Greens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84048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  <a:latin typeface="Calibri"/>
              </a:rPr>
              <a:t>Oranges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84048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  <a:latin typeface="Calibri"/>
              </a:rPr>
              <a:t>Purples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384048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  <a:latin typeface="Calibri"/>
              </a:rPr>
              <a:t>YlOrRd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384048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563EB"/>
                </a:solidFill>
                <a:latin typeface="Calibri"/>
              </a:rPr>
              <a:t>viridis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 Light"/>
              </a:rPr>
              <a:t>Diverging Palettes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25780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C3AED"/>
                </a:solidFill>
                <a:latin typeface="Calibri"/>
              </a:rPr>
              <a:t>coolwarm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525780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C3AED"/>
                </a:solidFill>
                <a:latin typeface="Calibri"/>
              </a:rPr>
              <a:t>RdBu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525780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C3AED"/>
                </a:solidFill>
                <a:latin typeface="Calibri"/>
              </a:rPr>
              <a:t>seismic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525780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C3AED"/>
                </a:solidFill>
                <a:latin typeface="Calibri"/>
              </a:rPr>
              <a:t>bwr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525780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79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C3AED"/>
                </a:solidFill>
                <a:latin typeface="Calibri"/>
              </a:rPr>
              <a:t>PiYG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5257800"/>
            <a:ext cx="164592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0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C3AED"/>
                </a:solidFill>
                <a:latin typeface="Calibri"/>
              </a:rPr>
              <a:t>PRGn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852160"/>
            <a:ext cx="109728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961888"/>
            <a:ext cx="106984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F3FC"/>
                </a:solidFill>
                <a:latin typeface="Courier New"/>
              </a:rPr>
              <a:t># Setting a palette
sns.set_palette('muted')
sns.set_style('whitegrid')
with sns.color_palette('pastel'):
    sns.scatterplot(...)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31 / 35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11D48"/>
                </a:solidFill>
                <a:latin typeface="Calibri"/>
              </a:rPr>
              <a:t>Topic 03 · Seaborn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Seaborn Plot Types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Section 5.9 — Complete function taxonomy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48640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4864" cy="13258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 Light"/>
              </a:rPr>
              <a:t>Distribution Plots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histplot  ·  kdeplot  ·  ecdfplot  ·  rugplot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48640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54864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 Light"/>
              </a:rPr>
              <a:t>Relational Plots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scatterplot  ·  lineplot  ·  relplot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548640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54864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 Light"/>
              </a:rPr>
              <a:t>Categorical Plots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319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stripplot  ·  swarmplot  ·  boxplot  ·  violinplot  ·  barplot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474720"/>
            <a:ext cx="548640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474720"/>
            <a:ext cx="54864" cy="1325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566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 Light"/>
              </a:rPr>
              <a:t>Regression Plots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319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lmplot  ·  regplot  ·  residplot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37760"/>
            <a:ext cx="548640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937760"/>
            <a:ext cx="54864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 Light"/>
              </a:rPr>
              <a:t>Matrix Plots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heatmap  ·  clustermap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937760"/>
            <a:ext cx="548640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937760"/>
            <a:ext cx="54864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029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 Light"/>
              </a:rPr>
              <a:t>Grid Plots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3949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pairplot  ·  jointplot  ·  FacetGrid  ·  PairGrid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32 / 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11D48"/>
                </a:solidFill>
                <a:latin typeface="Calibri"/>
              </a:rPr>
              <a:t>Topic 03 · Seaborn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Seaborn —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Topic 03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749808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4864" cy="7498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11D48"/>
                </a:solidFill>
                <a:latin typeface="Calibri Light"/>
              </a:rPr>
              <a:t>📊 High-Level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0312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 Light"/>
              </a:rPr>
              <a:t>One-liner statistical charts with Pandas column names as arguments.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1097280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54864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 Light"/>
              </a:rPr>
              <a:t>🎨 Beautiful Defaults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7180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 Light"/>
              </a:rPr>
              <a:t>muted, deep, pastel palettes and whitegrid style work out-of-the-box.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10972800" cy="749808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49039"/>
            <a:ext cx="54864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4047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 Light"/>
              </a:rPr>
              <a:t>📈 Statistical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840479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 Light"/>
              </a:rPr>
              <a:t>Automatic KDE, confidence intervals, and regression without extra code.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17720"/>
            <a:ext cx="1097280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617720"/>
            <a:ext cx="54864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 Light"/>
              </a:rPr>
              <a:t>🔗 Grid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70916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 Light"/>
              </a:rPr>
              <a:t>FacetGrid, PairGrid, and jointplot for publication-ready multi-panel figures.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486400"/>
            <a:ext cx="10972800" cy="749808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486400"/>
            <a:ext cx="54864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778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 Light"/>
              </a:rPr>
              <a:t>🏗️ Matplotlib Extensible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57784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 Light"/>
              </a:rPr>
              <a:t>Every Seaborn plot returns Matplotlib Axes — full low-level customization possible.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33 / 35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11D48"/>
                </a:solidFill>
                <a:latin typeface="Calibri"/>
              </a:rPr>
              <a:t>Topic 03 · Seaborn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 Light"/>
              </a:rPr>
              <a:t>Seaborn vs Matplotlib — Full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Why choose Seaborn? When to use Matplotlib directly?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56032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737360"/>
            <a:ext cx="411480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82112" y="1801368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Matplotlib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737360"/>
            <a:ext cx="4114800" cy="365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801368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Seaborn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67128"/>
            <a:ext cx="256032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231136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Abstraction Level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167128"/>
            <a:ext cx="411480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2231136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Low-level (full manual control)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167128"/>
            <a:ext cx="411480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2231136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High-level (declarative)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96896"/>
            <a:ext cx="256032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660904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Lines of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2596896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660904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10–30 lines for a styled plot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596896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2660904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1–3 lines for same plot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256032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090672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DataFrame 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3026664"/>
            <a:ext cx="411480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82112" y="3090672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Indirect (via .values, .to_numpy)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026664"/>
            <a:ext cx="411480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6912" y="3090672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Native (x='col', data=df)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56432"/>
            <a:ext cx="256032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520440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Statistical Estimators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3456432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82112" y="3520440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Manual calculation required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3456432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96912" y="3520440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Built-in KDE, CI, regression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886200"/>
            <a:ext cx="256032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3950208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Color Palettes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3886200"/>
            <a:ext cx="411480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82112" y="3950208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Manual color arrays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3886200"/>
            <a:ext cx="411480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96912" y="3950208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Named palettes (muted, deep...)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315968"/>
            <a:ext cx="256032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4379976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Multi-Panel Grids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0" y="4315968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82112" y="4379976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plt.subplots() + manual sizing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4315968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96912" y="4379976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FacetGrid, PairGrid (auto)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745736"/>
            <a:ext cx="256032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" y="4809744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Plot Types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4745736"/>
            <a:ext cx="411480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82112" y="4809744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Universal (any plot type)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4745736"/>
            <a:ext cx="411480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6912" y="4809744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Statistical charts only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175504"/>
            <a:ext cx="256032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" y="5239512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Customization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0" y="5175504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82112" y="5239512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Unlimited fine-grained control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23760" y="5175504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5239512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Limited; falls back to Matplotlib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605272"/>
            <a:ext cx="256032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5669280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Performance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08960" y="5605272"/>
            <a:ext cx="411480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82112" y="5669280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Faster for large custom plots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23760" y="5605272"/>
            <a:ext cx="4114800" cy="4297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5669280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Slightly slower overhead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6035040"/>
            <a:ext cx="256032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" y="6099048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Deprecation Risk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08960" y="6035040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82112" y="6099048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None (active development)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23760" y="6035040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96912" y="6099048"/>
            <a:ext cx="3968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Some functions deprecated (distplot → histplot)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34 / 35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6355080"/>
            <a:ext cx="2560320" cy="292608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6327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  <a:latin typeface="Calibri"/>
              </a:rPr>
              <a:t>Comparison · Seaborn vs Matplotlib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 Light"/>
              </a:rPr>
              <a:t>Scan QR Codes for Videos, Slides &amp; PPT Download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Calibri"/>
              </a:rPr>
              <a:t>Live public links hosted 24/7 on GitHub Pages — scan with any smartphone camera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4572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_tanglish_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237744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440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Tanglish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Stream Full Video in Tanglish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45920"/>
            <a:ext cx="2651760" cy="4572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_english_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783080"/>
            <a:ext cx="2377440" cy="3566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83280" y="5440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English Video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5760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Full 7-min HD 3D Presentation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2651760" cy="4572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qr_interactive_d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83080"/>
            <a:ext cx="2377440" cy="3566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5440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Web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760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Interactive 3D Deck on Mobile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645920"/>
            <a:ext cx="2651760" cy="4572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_ppt_down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1783080"/>
            <a:ext cx="2377440" cy="35661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52560" y="5440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Download PPT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760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PowerPoint Presentation (.pptx)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35 /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F172A"/>
                </a:solidFill>
                <a:latin typeface="Calibri Light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 Light"/>
              </a:rPr>
              <a:t>Data Visualization Seminar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 Light"/>
              </a:rPr>
              <a:t>Three-Dimensional Plotting  •  Geographic Data with Basemap  •  Visualization with Seaborn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3716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 Light"/>
              </a:rPr>
              <a:t>Topics 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 Light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 Light"/>
              </a:rPr>
              <a:t>Visualization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74903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26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 Light"/>
              </a:rPr>
              <a:t>Datasets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9377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 Light"/>
              </a:rP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 Light"/>
              </a:rPr>
              <a:t>Total Slides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 Light"/>
              </a:rPr>
              <a:t>Questions &amp;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36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